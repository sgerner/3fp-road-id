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fa5cb8658c4b32" /><Relationship Type="http://schemas.openxmlformats.org/officeDocument/2006/relationships/extended-properties" Target="/docProps/app.xml" Id="Rdeea2780dbd04764" /><Relationship Type="http://schemas.openxmlformats.org/officeDocument/2006/relationships/officeDocument" Target="/ppt/presentation.xml" Id="Rbc26be39219c4b6d" /></Relationships>
</file>

<file path=ppt/presentation.xml><?xml version="1.0" encoding="utf-8"?>
<p:presentation xmlns:p="http://schemas.openxmlformats.org/presentationml/2006/main">
  <p:sldMasterIdLst>
    <p:sldMasterId xmlns:r="http://schemas.openxmlformats.org/officeDocument/2006/relationships" id="2147483648" r:id="Raab20f1e14c84831"/>
  </p:sldMasterIdLst>
  <p:notesMasterIdLst>
    <p:notesMasterId xmlns:r="http://schemas.openxmlformats.org/officeDocument/2006/relationships" r:id="Rebccdf7f39914949"/>
  </p:notesMasterIdLst>
  <p:sldIdLst>
    <p:sldId xmlns:r="http://schemas.openxmlformats.org/officeDocument/2006/relationships" id="256" r:id="Rbf79c702a05d42e0"/>
    <p:sldId xmlns:r="http://schemas.openxmlformats.org/officeDocument/2006/relationships" id="257" r:id="R7a8d4b28420a4e4a"/>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ad03c5cfa84212" /><Relationship Type="http://schemas.openxmlformats.org/officeDocument/2006/relationships/slideMaster" Target="/ppt/slideMasters/slideMaster1.xml" Id="Raab20f1e14c84831" /><Relationship Type="http://schemas.openxmlformats.org/officeDocument/2006/relationships/notesMaster" Target="/ppt/notesMasters/notesMaster1.xml" Id="Rebccdf7f39914949" /><Relationship Type="http://schemas.openxmlformats.org/officeDocument/2006/relationships/presProps" Target="/ppt/presProps.xml" Id="R34387a0d756a4649" /><Relationship Type="http://schemas.openxmlformats.org/officeDocument/2006/relationships/tableStyles" Target="/ppt/tableStyles.xml" Id="Rb6eea44b65ff4a7b" /><Relationship Type="http://schemas.openxmlformats.org/officeDocument/2006/relationships/slide" Target="/ppt/slides/slide1.xml" Id="Rbf79c702a05d42e0" /><Relationship Type="http://schemas.openxmlformats.org/officeDocument/2006/relationships/slide" Target="/ppt/slides/slide2.xml" Id="R7a8d4b28420a4e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0689ff06184d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4655d2eb9c474c" /><Relationship Type="http://schemas.openxmlformats.org/officeDocument/2006/relationships/notesMaster" Target="/ppt/notesMasters/notesMaster1.xml" Id="R43ddc0d2f24b47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9e9fa92a50414e" /><Relationship Type="http://schemas.openxmlformats.org/officeDocument/2006/relationships/notesMaster" Target="/ppt/notesMasters/notesMaster1.xml" Id="R40041753314c48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Light the Ride</a:t>
            </a:r>
          </a:p>
          <a:p xmlns:a="http://schemas.openxmlformats.org/drawingml/2006/main">
            <a:r>
              <a:t>Lighting aids can improve detection in some experiments, and equipment-plus-education programs have increased observed use; results do not isolate printed messaging. A 2025 light trial had substantial reporting and participation limitations and did not establish an injury benefit. Lights do not guarantee a rider will be seen or prevent a crash.</a:t>
            </a:r>
          </a:p>
          <a:p xmlns:a="http://schemas.openxmlformats.org/drawingml/2006/main">
            <a:r>
              <a:t>This exact copy and artwork have not been tested with the intended audience. Treat the emotional framing as an audience hypothesis, not an effectiveness claim. Intended direction: Warmth and useful preparation, without detection or safe-arrival guarantees.</a:t>
            </a:r>
          </a:p>
          <a:p xmlns:a="http://schemas.openxmlformats.org/drawingml/2006/main">
            <a:r>
              <a:t>Advice about lighting does not promise that a driver will see or yield to a rider, or that a rider will arrive safely. Advertise fitting, supplies, or financial support only after a partner confirms availability.</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A. Same wording and layout across variants; only artwork changes. These are two one-sided poster alternatives, not a duplex sheet.</a:t>
            </a:r>
          </a:p>
          <a:p xmlns:a="http://schemas.openxmlformats.org/drawingml/2006/main">
            <a:r>
              <a:t>Sources:</a:t>
            </a:r>
          </a:p>
          <a:p xmlns:a="http://schemas.openxmlformats.org/drawingml/2006/main">
            <a:r>
              <a:t>https://www.cochrane.org/evidence/CD003438_increasing-pedestrian-and-cyclist-visibility-prevent-deaths-and-injuries</a:t>
            </a:r>
          </a:p>
          <a:p xmlns:a="http://schemas.openxmlformats.org/drawingml/2006/main">
            <a:r>
              <a:t>https://doi.org/10.55329/qwqe8132</a:t>
            </a:r>
          </a:p>
          <a:p xmlns:a="http://schemas.openxmlformats.org/drawingml/2006/main">
            <a:r>
              <a:t>https://pmc.ncbi.nlm.nih.gov/articles/PMC2593412/</a:t>
            </a:r>
          </a:p>
          <a:p xmlns:a="http://schemas.openxmlformats.org/drawingml/2006/main">
            <a:r>
              <a:t>https://www.nhtsa.gov/book/countermeasures-that-work/bicycle-safety/countermeasures</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Light the Ride</a:t>
            </a:r>
          </a:p>
          <a:p xmlns:a="http://schemas.openxmlformats.org/drawingml/2006/main">
            <a:r>
              <a:t>Lighting aids can improve detection in some experiments, and equipment-plus-education programs have increased observed use; results do not isolate printed messaging. A 2025 light trial had substantial reporting and participation limitations and did not establish an injury benefit. Lights do not guarantee a rider will be seen or prevent a crash.</a:t>
            </a:r>
          </a:p>
          <a:p xmlns:a="http://schemas.openxmlformats.org/drawingml/2006/main">
            <a:r>
              <a:t>This exact copy and artwork have not been tested with the intended audience. Treat the emotional framing as an audience hypothesis, not an effectiveness claim. Intended direction: Warmth and useful preparation, without detection or safe-arrival guarantees.</a:t>
            </a:r>
          </a:p>
          <a:p xmlns:a="http://schemas.openxmlformats.org/drawingml/2006/main">
            <a:r>
              <a:t>Advice about lighting does not promise that a driver will see or yield to a rider, or that a rider will arrive safely. Advertise fitting, supplies, or financial support only after a partner confirms availability.</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B. Same wording and layout across variants; only artwork changes. These are two one-sided poster alternatives, not a duplex sheet.</a:t>
            </a:r>
          </a:p>
          <a:p xmlns:a="http://schemas.openxmlformats.org/drawingml/2006/main">
            <a:r>
              <a:t>Sources:</a:t>
            </a:r>
          </a:p>
          <a:p xmlns:a="http://schemas.openxmlformats.org/drawingml/2006/main">
            <a:r>
              <a:t>https://www.cochrane.org/evidence/CD003438_increasing-pedestrian-and-cyclist-visibility-prevent-deaths-and-injuries</a:t>
            </a:r>
          </a:p>
          <a:p xmlns:a="http://schemas.openxmlformats.org/drawingml/2006/main">
            <a:r>
              <a:t>https://doi.org/10.55329/qwqe8132</a:t>
            </a:r>
          </a:p>
          <a:p xmlns:a="http://schemas.openxmlformats.org/drawingml/2006/main">
            <a:r>
              <a:t>https://pmc.ncbi.nlm.nih.gov/articles/PMC2593412/</a:t>
            </a:r>
          </a:p>
          <a:p xmlns:a="http://schemas.openxmlformats.org/drawingml/2006/main">
            <a:r>
              <a:t>https://www.nhtsa.gov/book/countermeasures-that-work/bicycle-safety/countermeasures</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9a9262a0a747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10e51aa79640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5830ba8fb24c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444fce20ef44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e36e2243f144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fcecf5c5be4f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731FBA-D695-4EAB-8E68-A07B1C535D5F}"/>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B65730-81BB-4E81-ACE8-C9EA43FF3B1A}"/>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0B2585-81D3-487E-9239-A9A4C2F669E7}"/>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C63F79-C584-4420-A39A-FC5E05CF0F30}"/>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F18FBC-33FE-480E-9DBA-91EA71BE4AB1}"/>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804129-C9E8-4C8B-AA7B-C0C740D3BBD4}"/>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65415D-197A-4244-8334-83F5C94A21AC}"/>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0A533F-FF16-4EE1-9A3F-F0B360E61201}"/>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1E3593-B4A6-440B-A18D-42BDB9B579B1}"/>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60E2A7-9554-4CA6-A69B-BBA0384C1C71}"/>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f1b2a357404a4a" /><Relationship Type="http://schemas.openxmlformats.org/officeDocument/2006/relationships/slideLayout" Target="/ppt/slideLayouts/slideLayout1.xml" Id="R671429a516bf4e55" /><Relationship Type="http://schemas.openxmlformats.org/officeDocument/2006/relationships/slideLayout" Target="/ppt/slideLayouts/slideLayout2.xml" Id="Ra29c442a8ad84df5" /><Relationship Type="http://schemas.openxmlformats.org/officeDocument/2006/relationships/slideLayout" Target="/ppt/slideLayouts/slideLayout3.xml" Id="R367811aac7c74e6d" /><Relationship Type="http://schemas.openxmlformats.org/officeDocument/2006/relationships/slideLayout" Target="/ppt/slideLayouts/slideLayout4.xml" Id="R1d0821683e404fc8" /><Relationship Type="http://schemas.openxmlformats.org/officeDocument/2006/relationships/slideLayout" Target="/ppt/slideLayouts/slideLayout5.xml" Id="Rba94e61410e2448f" /><Relationship Type="http://schemas.openxmlformats.org/officeDocument/2006/relationships/slideLayout" Target="/ppt/slideLayouts/slideLayout6.xml" Id="R920e4d8d7bb047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1429a516bf4e55"/>
    <p:sldLayoutId xmlns:r="http://schemas.openxmlformats.org/officeDocument/2006/relationships" id="2147483650" r:id="Ra29c442a8ad84df5"/>
    <p:sldLayoutId xmlns:r="http://schemas.openxmlformats.org/officeDocument/2006/relationships" id="2147483651" r:id="R367811aac7c74e6d"/>
    <p:sldLayoutId xmlns:r="http://schemas.openxmlformats.org/officeDocument/2006/relationships" id="2147483652" r:id="R1d0821683e404fc8"/>
    <p:sldLayoutId xmlns:r="http://schemas.openxmlformats.org/officeDocument/2006/relationships" id="2147483653" r:id="Rba94e61410e2448f"/>
    <p:sldLayoutId xmlns:r="http://schemas.openxmlformats.org/officeDocument/2006/relationships" id="2147483654" r:id="R920e4d8d7bb047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3256b21cec4d70" /><Relationship Type="http://schemas.openxmlformats.org/officeDocument/2006/relationships/image" Target="/ppt/media/image.png" Id="Rc789ef803b354cc6" /><Relationship Type="http://schemas.openxmlformats.org/officeDocument/2006/relationships/image" Target="/ppt/media/image2.png" Id="Ra75d55021fd84fa9" /><Relationship Type="http://schemas.openxmlformats.org/officeDocument/2006/relationships/image" Target="/ppt/media/image3.png" Id="Rc0b28e35e1e14fb1" /><Relationship Type="http://schemas.openxmlformats.org/officeDocument/2006/relationships/notesSlide" Target="/ppt/notesSlides/notesSlide1.xml" Id="Rcb82ed6b0f5b45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5946ec06774b59" /><Relationship Type="http://schemas.openxmlformats.org/officeDocument/2006/relationships/image" Target="/ppt/media/image4.png" Id="Re9d6ba9415004de4" /><Relationship Type="http://schemas.openxmlformats.org/officeDocument/2006/relationships/image" Target="/ppt/media/image5.png" Id="Rea5f0b343dac47f2" /><Relationship Type="http://schemas.openxmlformats.org/officeDocument/2006/relationships/image" Target="/ppt/media/image6.png" Id="R1d221e5a4947461a" /><Relationship Type="http://schemas.openxmlformats.org/officeDocument/2006/relationships/notesSlide" Target="/ppt/notesSlides/notesSlide2.xml" Id="R519ec291a4cc4070"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A748DD9-1239-458F-B869-8FACAE053BC1}"/>
              </a:ext>
            </a:extLst>
          </p:cNvPr>
          <p:cNvPicPr>
            <a:picLocks xmlns:a="http://schemas.openxmlformats.org/drawingml/2006/main" noChangeAspect="1"/>
          </p:cNvPicPr>
          <p:nvPr/>
        </p:nvPicPr>
        <p:blipFill>
          <a:blip xmlns:r="http://schemas.openxmlformats.org/officeDocument/2006/relationships" xmlns:a="http://schemas.openxmlformats.org/drawingml/2006/main" r:embed="Rc789ef803b354cc6"/>
          <a:srcRect xmlns:a="http://schemas.openxmlformats.org/drawingml/2006/main" l="0" t="15282" r="0" b="15282"/>
          <a:stretch xmlns:a="http://schemas.openxmlformats.org/drawingml/2006/main">
            <a:fillRect l="0" t="0" r="0" b="0"/>
          </a:stretch>
        </p:blipFill>
        <p:spPr>
          <a:xfrm xmlns:a="http://schemas.openxmlformats.org/drawingml/2006/main">
            <a:off x="0" y="0"/>
            <a:ext cx="7772400" cy="6743700"/>
          </a:xfrm>
          <a:prstGeom xmlns:a="http://schemas.openxmlformats.org/drawingml/2006/main" prst="rect">
            <a:avLst/>
          </a:prstGeom>
        </p:spPr>
      </p:pic>
      <p:sp>
        <p:nvSpPr>
          <p:cNvPr id="2" name="Light invitation field">
            <a:extLst xmlns:a="http://schemas.openxmlformats.org/drawingml/2006/main">
              <a:ext uri="{FF2B5EF4-FFF2-40B4-BE49-F238E27FC236}">
                <a16:creationId xmlns:a16="http://schemas.microsoft.com/office/drawing/2014/main" id="{5FEADF36-FE67-4C86-BE41-97F65F1F67DD}"/>
              </a:ext>
            </a:extLst>
          </p:cNvPr>
          <p:cNvSpPr>
            <a:spLocks xmlns:a="http://schemas.openxmlformats.org/drawingml/2006/main" noGrp="1"/>
          </p:cNvSpPr>
          <p:nvPr/>
        </p:nvSpPr>
        <p:spPr>
          <a:xfrm xmlns:a="http://schemas.openxmlformats.org/drawingml/2006/main">
            <a:off x="0" y="5943600"/>
            <a:ext cx="7772400" cy="2895600"/>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9A066771-982D-4C05-9B01-D8D1F1E9C26A}"/>
              </a:ext>
            </a:extLst>
          </p:cNvPr>
          <p:cNvSpPr>
            <a:spLocks xmlns:a="http://schemas.openxmlformats.org/drawingml/2006/main" noGrp="1"/>
          </p:cNvSpPr>
          <p:nvPr/>
        </p:nvSpPr>
        <p:spPr>
          <a:xfrm xmlns:a="http://schemas.openxmlformats.org/drawingml/2006/main">
            <a:off x="419100" y="6172200"/>
            <a:ext cx="693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FFFF0A"/>
                </a:solidFill>
                <a:latin typeface="Space Grotesk"/>
                <a:ea typeface="Space Grotesk"/>
                <a:cs typeface="Space Grotesk"/>
              </a:defRPr>
            </a:defPPr>
            <a:lvl1pPr>
              <a:defRPr sz="1100" b="1">
                <a:solidFill>
                  <a:srgbClr val="FFFF0A"/>
                </a:solidFill>
                <a:latin typeface="Space Grotesk"/>
                <a:ea typeface="Space Grotesk"/>
                <a:cs typeface="Space Grotesk"/>
              </a:defRPr>
            </a:lvl1pPr>
            <a:lvl2pPr>
              <a:defRPr sz="1100" b="1">
                <a:solidFill>
                  <a:srgbClr val="FFFF0A"/>
                </a:solidFill>
                <a:latin typeface="Space Grotesk"/>
                <a:ea typeface="Space Grotesk"/>
                <a:cs typeface="Space Grotesk"/>
              </a:defRPr>
            </a:lvl2pPr>
            <a:lvl3pPr>
              <a:defRPr sz="1100" b="1">
                <a:solidFill>
                  <a:srgbClr val="FFFF0A"/>
                </a:solidFill>
                <a:latin typeface="Space Grotesk"/>
                <a:ea typeface="Space Grotesk"/>
                <a:cs typeface="Space Grotesk"/>
              </a:defRPr>
            </a:lvl3pPr>
            <a:lvl4pPr>
              <a:defRPr sz="1100" b="1">
                <a:solidFill>
                  <a:srgbClr val="FFFF0A"/>
                </a:solidFill>
                <a:latin typeface="Space Grotesk"/>
                <a:ea typeface="Space Grotesk"/>
                <a:cs typeface="Space Grotesk"/>
              </a:defRPr>
            </a:lvl4pPr>
            <a:lvl5pPr>
              <a:defRPr sz="1100" b="1">
                <a:solidFill>
                  <a:srgbClr val="FFFF0A"/>
                </a:solidFill>
                <a:latin typeface="Space Grotesk"/>
                <a:ea typeface="Space Grotesk"/>
                <a:cs typeface="Space Grotesk"/>
              </a:defRPr>
            </a:lvl5pPr>
            <a:lvl6pPr>
              <a:defRPr sz="1100" b="1">
                <a:solidFill>
                  <a:srgbClr val="FFFF0A"/>
                </a:solidFill>
                <a:latin typeface="Space Grotesk"/>
                <a:ea typeface="Space Grotesk"/>
                <a:cs typeface="Space Grotesk"/>
              </a:defRPr>
            </a:lvl6pPr>
            <a:lvl7pPr>
              <a:defRPr sz="1100" b="1">
                <a:solidFill>
                  <a:srgbClr val="FFFF0A"/>
                </a:solidFill>
                <a:latin typeface="Space Grotesk"/>
                <a:ea typeface="Space Grotesk"/>
                <a:cs typeface="Space Grotesk"/>
              </a:defRPr>
            </a:lvl7pPr>
            <a:lvl8pPr>
              <a:defRPr sz="1100" b="1">
                <a:solidFill>
                  <a:srgbClr val="FFFF0A"/>
                </a:solidFill>
                <a:latin typeface="Space Grotesk"/>
                <a:ea typeface="Space Grotesk"/>
                <a:cs typeface="Space Grotesk"/>
              </a:defRPr>
            </a:lvl8pPr>
            <a:lvl9pPr>
              <a:defRPr sz="1100" b="1">
                <a:solidFill>
                  <a:srgbClr val="FFFF0A"/>
                </a:solidFill>
                <a:latin typeface="Space Grotesk"/>
                <a:ea typeface="Space Grotesk"/>
                <a:cs typeface="Space Grotesk"/>
              </a:defRPr>
            </a:lvl9pPr>
          </a:lstStyle>
          <a:p xmlns:a="http://schemas.openxmlformats.org/drawingml/2006/main">
            <a:pPr>
              <a:lnSpc>
                <a:spcPct val="98000"/>
              </a:lnSpc>
              <a:buNone/>
              <a:defRPr sz="1100" b="1">
                <a:solidFill>
                  <a:srgbClr val="FFFF0A"/>
                </a:solidFill>
                <a:latin typeface="Space Grotesk"/>
                <a:ea typeface="Space Grotesk"/>
                <a:cs typeface="Space Grotesk"/>
              </a:defRPr>
            </a:pPr>
            <a:r>
              <a:rPr sz="1100" b="1">
                <a:solidFill>
                  <a:srgbClr val="FFFF0A"/>
                </a:solidFill>
                <a:latin typeface="Space Grotesk"/>
                <a:ea typeface="Space Grotesk"/>
                <a:cs typeface="Space Grotesk"/>
              </a:rPr>
              <a:t>3 FEET PLEASE · LIGHT THE RIDE</a:t>
            </a:r>
          </a:p>
        </p:txBody>
      </p:sp>
      <p:sp>
        <p:nvSpPr>
          <p:cNvPr id="4" name="Central message">
            <a:extLst xmlns:a="http://schemas.openxmlformats.org/drawingml/2006/main">
              <a:ext uri="{FF2B5EF4-FFF2-40B4-BE49-F238E27FC236}">
                <a16:creationId xmlns:a16="http://schemas.microsoft.com/office/drawing/2014/main" id="{BC5BCCE4-525A-46ED-B23D-FAEC9712B4FA}"/>
              </a:ext>
            </a:extLst>
          </p:cNvPr>
          <p:cNvSpPr>
            <a:spLocks xmlns:a="http://schemas.openxmlformats.org/drawingml/2006/main" noGrp="1"/>
          </p:cNvSpPr>
          <p:nvPr/>
        </p:nvSpPr>
        <p:spPr>
          <a:xfrm xmlns:a="http://schemas.openxmlformats.org/drawingml/2006/main">
            <a:off x="400050" y="6496050"/>
            <a:ext cx="695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500" b="1">
                <a:solidFill>
                  <a:srgbClr val="FFFFFF"/>
                </a:solidFill>
                <a:latin typeface="Space Grotesk"/>
                <a:ea typeface="Space Grotesk"/>
                <a:cs typeface="Space Grotesk"/>
              </a:defRPr>
            </a:defPPr>
            <a:lvl1pPr>
              <a:defRPr sz="3500" b="1">
                <a:solidFill>
                  <a:srgbClr val="FFFFFF"/>
                </a:solidFill>
                <a:latin typeface="Space Grotesk"/>
                <a:ea typeface="Space Grotesk"/>
                <a:cs typeface="Space Grotesk"/>
              </a:defRPr>
            </a:lvl1pPr>
            <a:lvl2pPr>
              <a:defRPr sz="3500" b="1">
                <a:solidFill>
                  <a:srgbClr val="FFFFFF"/>
                </a:solidFill>
                <a:latin typeface="Space Grotesk"/>
                <a:ea typeface="Space Grotesk"/>
                <a:cs typeface="Space Grotesk"/>
              </a:defRPr>
            </a:lvl2pPr>
            <a:lvl3pPr>
              <a:defRPr sz="3500" b="1">
                <a:solidFill>
                  <a:srgbClr val="FFFFFF"/>
                </a:solidFill>
                <a:latin typeface="Space Grotesk"/>
                <a:ea typeface="Space Grotesk"/>
                <a:cs typeface="Space Grotesk"/>
              </a:defRPr>
            </a:lvl3pPr>
            <a:lvl4pPr>
              <a:defRPr sz="3500" b="1">
                <a:solidFill>
                  <a:srgbClr val="FFFFFF"/>
                </a:solidFill>
                <a:latin typeface="Space Grotesk"/>
                <a:ea typeface="Space Grotesk"/>
                <a:cs typeface="Space Grotesk"/>
              </a:defRPr>
            </a:lvl4pPr>
            <a:lvl5pPr>
              <a:defRPr sz="3500" b="1">
                <a:solidFill>
                  <a:srgbClr val="FFFFFF"/>
                </a:solidFill>
                <a:latin typeface="Space Grotesk"/>
                <a:ea typeface="Space Grotesk"/>
                <a:cs typeface="Space Grotesk"/>
              </a:defRPr>
            </a:lvl5pPr>
            <a:lvl6pPr>
              <a:defRPr sz="3500" b="1">
                <a:solidFill>
                  <a:srgbClr val="FFFFFF"/>
                </a:solidFill>
                <a:latin typeface="Space Grotesk"/>
                <a:ea typeface="Space Grotesk"/>
                <a:cs typeface="Space Grotesk"/>
              </a:defRPr>
            </a:lvl6pPr>
            <a:lvl7pPr>
              <a:defRPr sz="3500" b="1">
                <a:solidFill>
                  <a:srgbClr val="FFFFFF"/>
                </a:solidFill>
                <a:latin typeface="Space Grotesk"/>
                <a:ea typeface="Space Grotesk"/>
                <a:cs typeface="Space Grotesk"/>
              </a:defRPr>
            </a:lvl7pPr>
            <a:lvl8pPr>
              <a:defRPr sz="3500" b="1">
                <a:solidFill>
                  <a:srgbClr val="FFFFFF"/>
                </a:solidFill>
                <a:latin typeface="Space Grotesk"/>
                <a:ea typeface="Space Grotesk"/>
                <a:cs typeface="Space Grotesk"/>
              </a:defRPr>
            </a:lvl8pPr>
            <a:lvl9pPr>
              <a:defRPr sz="3500" b="1">
                <a:solidFill>
                  <a:srgbClr val="FFFFFF"/>
                </a:solidFill>
                <a:latin typeface="Space Grotesk"/>
                <a:ea typeface="Space Grotesk"/>
                <a:cs typeface="Space Grotesk"/>
              </a:defRPr>
            </a:lvl9pPr>
          </a:lstStyle>
          <a:p xmlns:a="http://schemas.openxmlformats.org/drawingml/2006/main">
            <a:pPr>
              <a:lnSpc>
                <a:spcPct val="98000"/>
              </a:lnSpc>
              <a:buNone/>
              <a:defRPr sz="3500" b="1">
                <a:solidFill>
                  <a:srgbClr val="FFFFFF"/>
                </a:solidFill>
                <a:latin typeface="Space Grotesk"/>
                <a:ea typeface="Space Grotesk"/>
                <a:cs typeface="Space Grotesk"/>
              </a:defRPr>
            </a:pPr>
            <a:r>
              <a:rPr sz="3500" b="1">
                <a:solidFill>
                  <a:srgbClr val="FFFFFF"/>
                </a:solidFill>
                <a:latin typeface="Space Grotesk"/>
                <a:ea typeface="Space Grotesk"/>
                <a:cs typeface="Space Grotesk"/>
              </a:rPr>
              <a:t>Before the ride</a:t>
            </a:r>
          </a:p>
          <a:p xmlns:a="http://schemas.openxmlformats.org/drawingml/2006/main">
            <a:pPr>
              <a:lnSpc>
                <a:spcPct val="98000"/>
              </a:lnSpc>
              <a:buNone/>
              <a:defRPr sz="3500" b="1">
                <a:solidFill>
                  <a:srgbClr val="FFFFFF"/>
                </a:solidFill>
                <a:latin typeface="Space Grotesk"/>
                <a:ea typeface="Space Grotesk"/>
                <a:cs typeface="Space Grotesk"/>
              </a:defRPr>
            </a:pPr>
            <a:r>
              <a:rPr sz="3500" b="1">
                <a:solidFill>
                  <a:srgbClr val="FFFFFF"/>
                </a:solidFill>
                <a:latin typeface="Space Grotesk"/>
                <a:ea typeface="Space Grotesk"/>
                <a:cs typeface="Space Grotesk"/>
              </a:rPr>
              <a:t>home, check your lights.</a:t>
            </a:r>
          </a:p>
        </p:txBody>
      </p:sp>
      <p:sp>
        <p:nvSpPr>
          <p:cNvPr id="5" name="Light action">
            <a:extLst xmlns:a="http://schemas.openxmlformats.org/drawingml/2006/main">
              <a:ext uri="{FF2B5EF4-FFF2-40B4-BE49-F238E27FC236}">
                <a16:creationId xmlns:a16="http://schemas.microsoft.com/office/drawing/2014/main" id="{47C6B5C1-AC15-48F2-B2E4-727602ADD527}"/>
              </a:ext>
            </a:extLst>
          </p:cNvPr>
          <p:cNvSpPr>
            <a:spLocks xmlns:a="http://schemas.openxmlformats.org/drawingml/2006/main" noGrp="1"/>
          </p:cNvSpPr>
          <p:nvPr/>
        </p:nvSpPr>
        <p:spPr>
          <a:xfrm xmlns:a="http://schemas.openxmlformats.org/drawingml/2006/main">
            <a:off x="428625" y="7953375"/>
            <a:ext cx="689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0" b="1">
                <a:solidFill>
                  <a:srgbClr val="FFFF0A"/>
                </a:solidFill>
                <a:latin typeface="Arial"/>
                <a:ea typeface="Arial"/>
                <a:cs typeface="Arial"/>
              </a:defRPr>
            </a:defPPr>
            <a:lvl1pPr>
              <a:defRPr sz="1380" b="1">
                <a:solidFill>
                  <a:srgbClr val="FFFF0A"/>
                </a:solidFill>
                <a:latin typeface="Arial"/>
                <a:ea typeface="Arial"/>
                <a:cs typeface="Arial"/>
              </a:defRPr>
            </a:lvl1pPr>
            <a:lvl2pPr>
              <a:defRPr sz="1380" b="1">
                <a:solidFill>
                  <a:srgbClr val="FFFF0A"/>
                </a:solidFill>
                <a:latin typeface="Arial"/>
                <a:ea typeface="Arial"/>
                <a:cs typeface="Arial"/>
              </a:defRPr>
            </a:lvl2pPr>
            <a:lvl3pPr>
              <a:defRPr sz="1380" b="1">
                <a:solidFill>
                  <a:srgbClr val="FFFF0A"/>
                </a:solidFill>
                <a:latin typeface="Arial"/>
                <a:ea typeface="Arial"/>
                <a:cs typeface="Arial"/>
              </a:defRPr>
            </a:lvl3pPr>
            <a:lvl4pPr>
              <a:defRPr sz="1380" b="1">
                <a:solidFill>
                  <a:srgbClr val="FFFF0A"/>
                </a:solidFill>
                <a:latin typeface="Arial"/>
                <a:ea typeface="Arial"/>
                <a:cs typeface="Arial"/>
              </a:defRPr>
            </a:lvl4pPr>
            <a:lvl5pPr>
              <a:defRPr sz="1380" b="1">
                <a:solidFill>
                  <a:srgbClr val="FFFF0A"/>
                </a:solidFill>
                <a:latin typeface="Arial"/>
                <a:ea typeface="Arial"/>
                <a:cs typeface="Arial"/>
              </a:defRPr>
            </a:lvl5pPr>
            <a:lvl6pPr>
              <a:defRPr sz="1380" b="1">
                <a:solidFill>
                  <a:srgbClr val="FFFF0A"/>
                </a:solidFill>
                <a:latin typeface="Arial"/>
                <a:ea typeface="Arial"/>
                <a:cs typeface="Arial"/>
              </a:defRPr>
            </a:lvl6pPr>
            <a:lvl7pPr>
              <a:defRPr sz="1380" b="1">
                <a:solidFill>
                  <a:srgbClr val="FFFF0A"/>
                </a:solidFill>
                <a:latin typeface="Arial"/>
                <a:ea typeface="Arial"/>
                <a:cs typeface="Arial"/>
              </a:defRPr>
            </a:lvl7pPr>
            <a:lvl8pPr>
              <a:defRPr sz="1380" b="1">
                <a:solidFill>
                  <a:srgbClr val="FFFF0A"/>
                </a:solidFill>
                <a:latin typeface="Arial"/>
                <a:ea typeface="Arial"/>
                <a:cs typeface="Arial"/>
              </a:defRPr>
            </a:lvl8pPr>
            <a:lvl9pPr>
              <a:defRPr sz="1380" b="1">
                <a:solidFill>
                  <a:srgbClr val="FFFF0A"/>
                </a:solidFill>
                <a:latin typeface="Arial"/>
                <a:ea typeface="Arial"/>
                <a:cs typeface="Arial"/>
              </a:defRPr>
            </a:lvl9pPr>
          </a:lstStyle>
          <a:p xmlns:a="http://schemas.openxmlformats.org/drawingml/2006/main">
            <a:pPr>
              <a:lnSpc>
                <a:spcPct val="98000"/>
              </a:lnSpc>
              <a:buNone/>
              <a:defRPr sz="1380" b="1">
                <a:solidFill>
                  <a:srgbClr val="FFFF0A"/>
                </a:solidFill>
                <a:latin typeface="Arial"/>
                <a:ea typeface="Arial"/>
                <a:cs typeface="Arial"/>
              </a:defRPr>
            </a:pPr>
            <a:r>
              <a:rPr sz="1380" b="1">
                <a:solidFill>
                  <a:srgbClr val="FFFF0A"/>
                </a:solidFill>
                <a:latin typeface="Arial"/>
                <a:ea typeface="Arial"/>
                <a:cs typeface="Arial"/>
              </a:rPr>
              <a:t>Secure your lights. Check the power. Switch both on. Aim the front light without glare. Ask a bike shop about fitting help.</a:t>
            </a:r>
          </a:p>
        </p:txBody>
      </p:sp>
      <p:sp>
        <p:nvSpPr>
          <p:cNvPr id="6" name="Brand footer">
            <a:extLst xmlns:a="http://schemas.openxmlformats.org/drawingml/2006/main">
              <a:ext uri="{FF2B5EF4-FFF2-40B4-BE49-F238E27FC236}">
                <a16:creationId xmlns:a16="http://schemas.microsoft.com/office/drawing/2014/main" id="{033E605C-BFEF-4197-ADFD-6DDC53549603}"/>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E6C0D93-4750-4883-B4E8-D9620C681C0B}"/>
              </a:ext>
            </a:extLst>
          </p:cNvPr>
          <p:cNvPicPr>
            <a:picLocks xmlns:a="http://schemas.openxmlformats.org/drawingml/2006/main" noChangeAspect="1"/>
          </p:cNvPicPr>
          <p:nvPr/>
        </p:nvPicPr>
        <p:blipFill>
          <a:blip xmlns:r="http://schemas.openxmlformats.org/officeDocument/2006/relationships" xmlns:a="http://schemas.openxmlformats.org/drawingml/2006/main" r:embed="Ra75d55021fd84fa9"/>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8" name="Readable URL">
            <a:extLst xmlns:a="http://schemas.openxmlformats.org/drawingml/2006/main">
              <a:ext uri="{FF2B5EF4-FFF2-40B4-BE49-F238E27FC236}">
                <a16:creationId xmlns:a16="http://schemas.microsoft.com/office/drawing/2014/main" id="{F467031A-A38A-49E6-A091-28448DB0360E}"/>
              </a:ext>
            </a:extLst>
          </p:cNvPr>
          <p:cNvSpPr>
            <a:spLocks xmlns:a="http://schemas.openxmlformats.org/drawingml/2006/main" noGrp="1"/>
          </p:cNvSpPr>
          <p:nvPr/>
        </p:nvSpPr>
        <p:spPr>
          <a:xfrm xmlns:a="http://schemas.openxmlformats.org/drawingml/2006/main">
            <a:off x="1257300" y="9010650"/>
            <a:ext cx="4914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9" name="Community invitation">
            <a:extLst xmlns:a="http://schemas.openxmlformats.org/drawingml/2006/main">
              <a:ext uri="{FF2B5EF4-FFF2-40B4-BE49-F238E27FC236}">
                <a16:creationId xmlns:a16="http://schemas.microsoft.com/office/drawing/2014/main" id="{90258D07-88B9-49DD-8741-62480EA6A3CD}"/>
              </a:ext>
            </a:extLst>
          </p:cNvPr>
          <p:cNvSpPr>
            <a:spLocks xmlns:a="http://schemas.openxmlformats.org/drawingml/2006/main" noGrp="1"/>
          </p:cNvSpPr>
          <p:nvPr/>
        </p:nvSpPr>
        <p:spPr>
          <a:xfrm xmlns:a="http://schemas.openxmlformats.org/drawingml/2006/main">
            <a:off x="1257300" y="9525000"/>
            <a:ext cx="4819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public rides.</a:t>
            </a:r>
          </a:p>
        </p:txBody>
      </p:sp>
      <p:sp>
        <p:nvSpPr>
          <p:cNvPr id="10" name="QR quiet zone">
            <a:extLst xmlns:a="http://schemas.openxmlformats.org/drawingml/2006/main">
              <a:ext uri="{FF2B5EF4-FFF2-40B4-BE49-F238E27FC236}">
                <a16:creationId xmlns:a16="http://schemas.microsoft.com/office/drawing/2014/main" id="{6D79326F-3653-47B7-AF17-5B50137FA337}"/>
              </a:ext>
            </a:extLst>
          </p:cNvPr>
          <p:cNvSpPr>
            <a:spLocks xmlns:a="http://schemas.openxmlformats.org/drawingml/2006/main" noGrp="1"/>
          </p:cNvSpPr>
          <p:nvPr/>
        </p:nvSpPr>
        <p:spPr>
          <a:xfrm xmlns:a="http://schemas.openxmlformats.org/drawingml/2006/main">
            <a:off x="6534150" y="9001125"/>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C6289C91-84D2-4341-AEC3-52107CC76ADE}"/>
              </a:ext>
            </a:extLst>
          </p:cNvPr>
          <p:cNvPicPr>
            <a:picLocks xmlns:a="http://schemas.openxmlformats.org/drawingml/2006/main" noChangeAspect="1"/>
          </p:cNvPicPr>
          <p:nvPr/>
        </p:nvPicPr>
        <p:blipFill>
          <a:blip xmlns:r="http://schemas.openxmlformats.org/officeDocument/2006/relationships" xmlns:a="http://schemas.openxmlformats.org/drawingml/2006/main" r:embed="Rc0b28e35e1e14fb1"/>
          <a:stretch xmlns:a="http://schemas.openxmlformats.org/drawingml/2006/main"/>
        </p:blipFill>
        <p:spPr>
          <a:xfrm xmlns:a="http://schemas.openxmlformats.org/drawingml/2006/main">
            <a:off x="6581775" y="9048750"/>
            <a:ext cx="781050" cy="781050"/>
          </a:xfrm>
          <a:prstGeom xmlns:a="http://schemas.openxmlformats.org/drawingml/2006/main" prst="rect">
            <a:avLst/>
          </a:prstGeom>
        </p:spPr>
      </p:pic>
    </p:spTree>
    <p:extLst>
      <p:ext uri="{BB962C8B-B14F-4D97-AF65-F5344CB8AC3E}">
        <p14:creationId xmlns:p14="http://schemas.microsoft.com/office/powerpoint/2010/main" val="1434304599"/>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9FA339D-1C11-4BC6-9FB0-D8022497B733}"/>
              </a:ext>
            </a:extLst>
          </p:cNvPr>
          <p:cNvPicPr>
            <a:picLocks xmlns:a="http://schemas.openxmlformats.org/drawingml/2006/main" noChangeAspect="1"/>
          </p:cNvPicPr>
          <p:nvPr/>
        </p:nvPicPr>
        <p:blipFill>
          <a:blip xmlns:r="http://schemas.openxmlformats.org/officeDocument/2006/relationships" xmlns:a="http://schemas.openxmlformats.org/drawingml/2006/main" r:embed="Re9d6ba9415004de4"/>
          <a:srcRect xmlns:a="http://schemas.openxmlformats.org/drawingml/2006/main" l="0" t="15282" r="0" b="15282"/>
          <a:stretch xmlns:a="http://schemas.openxmlformats.org/drawingml/2006/main">
            <a:fillRect l="0" t="0" r="0" b="0"/>
          </a:stretch>
        </p:blipFill>
        <p:spPr>
          <a:xfrm xmlns:a="http://schemas.openxmlformats.org/drawingml/2006/main">
            <a:off x="0" y="0"/>
            <a:ext cx="7772400" cy="6743700"/>
          </a:xfrm>
          <a:prstGeom xmlns:a="http://schemas.openxmlformats.org/drawingml/2006/main" prst="rect">
            <a:avLst/>
          </a:prstGeom>
        </p:spPr>
      </p:pic>
      <p:sp>
        <p:nvSpPr>
          <p:cNvPr id="2" name="Light invitation field">
            <a:extLst xmlns:a="http://schemas.openxmlformats.org/drawingml/2006/main">
              <a:ext uri="{FF2B5EF4-FFF2-40B4-BE49-F238E27FC236}">
                <a16:creationId xmlns:a16="http://schemas.microsoft.com/office/drawing/2014/main" id="{47C76BC3-3EB4-4668-93FE-6BDBBD8EADDF}"/>
              </a:ext>
            </a:extLst>
          </p:cNvPr>
          <p:cNvSpPr>
            <a:spLocks xmlns:a="http://schemas.openxmlformats.org/drawingml/2006/main" noGrp="1"/>
          </p:cNvSpPr>
          <p:nvPr/>
        </p:nvSpPr>
        <p:spPr>
          <a:xfrm xmlns:a="http://schemas.openxmlformats.org/drawingml/2006/main">
            <a:off x="0" y="5943600"/>
            <a:ext cx="7772400" cy="2895600"/>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3" name="Campaign label">
            <a:extLst xmlns:a="http://schemas.openxmlformats.org/drawingml/2006/main">
              <a:ext uri="{FF2B5EF4-FFF2-40B4-BE49-F238E27FC236}">
                <a16:creationId xmlns:a16="http://schemas.microsoft.com/office/drawing/2014/main" id="{73958C36-DBF9-4AF0-AC5E-14576AB5E0C7}"/>
              </a:ext>
            </a:extLst>
          </p:cNvPr>
          <p:cNvSpPr>
            <a:spLocks xmlns:a="http://schemas.openxmlformats.org/drawingml/2006/main" noGrp="1"/>
          </p:cNvSpPr>
          <p:nvPr/>
        </p:nvSpPr>
        <p:spPr>
          <a:xfrm xmlns:a="http://schemas.openxmlformats.org/drawingml/2006/main">
            <a:off x="419100" y="6172200"/>
            <a:ext cx="693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FFFF0A"/>
                </a:solidFill>
                <a:latin typeface="Space Grotesk"/>
                <a:ea typeface="Space Grotesk"/>
                <a:cs typeface="Space Grotesk"/>
              </a:defRPr>
            </a:defPPr>
            <a:lvl1pPr>
              <a:defRPr sz="1100" b="1">
                <a:solidFill>
                  <a:srgbClr val="FFFF0A"/>
                </a:solidFill>
                <a:latin typeface="Space Grotesk"/>
                <a:ea typeface="Space Grotesk"/>
                <a:cs typeface="Space Grotesk"/>
              </a:defRPr>
            </a:lvl1pPr>
            <a:lvl2pPr>
              <a:defRPr sz="1100" b="1">
                <a:solidFill>
                  <a:srgbClr val="FFFF0A"/>
                </a:solidFill>
                <a:latin typeface="Space Grotesk"/>
                <a:ea typeface="Space Grotesk"/>
                <a:cs typeface="Space Grotesk"/>
              </a:defRPr>
            </a:lvl2pPr>
            <a:lvl3pPr>
              <a:defRPr sz="1100" b="1">
                <a:solidFill>
                  <a:srgbClr val="FFFF0A"/>
                </a:solidFill>
                <a:latin typeface="Space Grotesk"/>
                <a:ea typeface="Space Grotesk"/>
                <a:cs typeface="Space Grotesk"/>
              </a:defRPr>
            </a:lvl3pPr>
            <a:lvl4pPr>
              <a:defRPr sz="1100" b="1">
                <a:solidFill>
                  <a:srgbClr val="FFFF0A"/>
                </a:solidFill>
                <a:latin typeface="Space Grotesk"/>
                <a:ea typeface="Space Grotesk"/>
                <a:cs typeface="Space Grotesk"/>
              </a:defRPr>
            </a:lvl4pPr>
            <a:lvl5pPr>
              <a:defRPr sz="1100" b="1">
                <a:solidFill>
                  <a:srgbClr val="FFFF0A"/>
                </a:solidFill>
                <a:latin typeface="Space Grotesk"/>
                <a:ea typeface="Space Grotesk"/>
                <a:cs typeface="Space Grotesk"/>
              </a:defRPr>
            </a:lvl5pPr>
            <a:lvl6pPr>
              <a:defRPr sz="1100" b="1">
                <a:solidFill>
                  <a:srgbClr val="FFFF0A"/>
                </a:solidFill>
                <a:latin typeface="Space Grotesk"/>
                <a:ea typeface="Space Grotesk"/>
                <a:cs typeface="Space Grotesk"/>
              </a:defRPr>
            </a:lvl6pPr>
            <a:lvl7pPr>
              <a:defRPr sz="1100" b="1">
                <a:solidFill>
                  <a:srgbClr val="FFFF0A"/>
                </a:solidFill>
                <a:latin typeface="Space Grotesk"/>
                <a:ea typeface="Space Grotesk"/>
                <a:cs typeface="Space Grotesk"/>
              </a:defRPr>
            </a:lvl7pPr>
            <a:lvl8pPr>
              <a:defRPr sz="1100" b="1">
                <a:solidFill>
                  <a:srgbClr val="FFFF0A"/>
                </a:solidFill>
                <a:latin typeface="Space Grotesk"/>
                <a:ea typeface="Space Grotesk"/>
                <a:cs typeface="Space Grotesk"/>
              </a:defRPr>
            </a:lvl8pPr>
            <a:lvl9pPr>
              <a:defRPr sz="1100" b="1">
                <a:solidFill>
                  <a:srgbClr val="FFFF0A"/>
                </a:solidFill>
                <a:latin typeface="Space Grotesk"/>
                <a:ea typeface="Space Grotesk"/>
                <a:cs typeface="Space Grotesk"/>
              </a:defRPr>
            </a:lvl9pPr>
          </a:lstStyle>
          <a:p xmlns:a="http://schemas.openxmlformats.org/drawingml/2006/main">
            <a:pPr>
              <a:lnSpc>
                <a:spcPct val="98000"/>
              </a:lnSpc>
              <a:buNone/>
              <a:defRPr sz="1100" b="1">
                <a:solidFill>
                  <a:srgbClr val="FFFF0A"/>
                </a:solidFill>
                <a:latin typeface="Space Grotesk"/>
                <a:ea typeface="Space Grotesk"/>
                <a:cs typeface="Space Grotesk"/>
              </a:defRPr>
            </a:pPr>
            <a:r>
              <a:rPr sz="1100" b="1">
                <a:solidFill>
                  <a:srgbClr val="FFFF0A"/>
                </a:solidFill>
                <a:latin typeface="Space Grotesk"/>
                <a:ea typeface="Space Grotesk"/>
                <a:cs typeface="Space Grotesk"/>
              </a:rPr>
              <a:t>3 FEET PLEASE · LIGHT THE RIDE</a:t>
            </a:r>
          </a:p>
        </p:txBody>
      </p:sp>
      <p:sp>
        <p:nvSpPr>
          <p:cNvPr id="4" name="Central message">
            <a:extLst xmlns:a="http://schemas.openxmlformats.org/drawingml/2006/main">
              <a:ext uri="{FF2B5EF4-FFF2-40B4-BE49-F238E27FC236}">
                <a16:creationId xmlns:a16="http://schemas.microsoft.com/office/drawing/2014/main" id="{858EEA6C-FB50-458B-AAF9-040411655564}"/>
              </a:ext>
            </a:extLst>
          </p:cNvPr>
          <p:cNvSpPr>
            <a:spLocks xmlns:a="http://schemas.openxmlformats.org/drawingml/2006/main" noGrp="1"/>
          </p:cNvSpPr>
          <p:nvPr/>
        </p:nvSpPr>
        <p:spPr>
          <a:xfrm xmlns:a="http://schemas.openxmlformats.org/drawingml/2006/main">
            <a:off x="400050" y="6496050"/>
            <a:ext cx="695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500" b="1">
                <a:solidFill>
                  <a:srgbClr val="FFFFFF"/>
                </a:solidFill>
                <a:latin typeface="Space Grotesk"/>
                <a:ea typeface="Space Grotesk"/>
                <a:cs typeface="Space Grotesk"/>
              </a:defRPr>
            </a:defPPr>
            <a:lvl1pPr>
              <a:defRPr sz="3500" b="1">
                <a:solidFill>
                  <a:srgbClr val="FFFFFF"/>
                </a:solidFill>
                <a:latin typeface="Space Grotesk"/>
                <a:ea typeface="Space Grotesk"/>
                <a:cs typeface="Space Grotesk"/>
              </a:defRPr>
            </a:lvl1pPr>
            <a:lvl2pPr>
              <a:defRPr sz="3500" b="1">
                <a:solidFill>
                  <a:srgbClr val="FFFFFF"/>
                </a:solidFill>
                <a:latin typeface="Space Grotesk"/>
                <a:ea typeface="Space Grotesk"/>
                <a:cs typeface="Space Grotesk"/>
              </a:defRPr>
            </a:lvl2pPr>
            <a:lvl3pPr>
              <a:defRPr sz="3500" b="1">
                <a:solidFill>
                  <a:srgbClr val="FFFFFF"/>
                </a:solidFill>
                <a:latin typeface="Space Grotesk"/>
                <a:ea typeface="Space Grotesk"/>
                <a:cs typeface="Space Grotesk"/>
              </a:defRPr>
            </a:lvl3pPr>
            <a:lvl4pPr>
              <a:defRPr sz="3500" b="1">
                <a:solidFill>
                  <a:srgbClr val="FFFFFF"/>
                </a:solidFill>
                <a:latin typeface="Space Grotesk"/>
                <a:ea typeface="Space Grotesk"/>
                <a:cs typeface="Space Grotesk"/>
              </a:defRPr>
            </a:lvl4pPr>
            <a:lvl5pPr>
              <a:defRPr sz="3500" b="1">
                <a:solidFill>
                  <a:srgbClr val="FFFFFF"/>
                </a:solidFill>
                <a:latin typeface="Space Grotesk"/>
                <a:ea typeface="Space Grotesk"/>
                <a:cs typeface="Space Grotesk"/>
              </a:defRPr>
            </a:lvl5pPr>
            <a:lvl6pPr>
              <a:defRPr sz="3500" b="1">
                <a:solidFill>
                  <a:srgbClr val="FFFFFF"/>
                </a:solidFill>
                <a:latin typeface="Space Grotesk"/>
                <a:ea typeface="Space Grotesk"/>
                <a:cs typeface="Space Grotesk"/>
              </a:defRPr>
            </a:lvl6pPr>
            <a:lvl7pPr>
              <a:defRPr sz="3500" b="1">
                <a:solidFill>
                  <a:srgbClr val="FFFFFF"/>
                </a:solidFill>
                <a:latin typeface="Space Grotesk"/>
                <a:ea typeface="Space Grotesk"/>
                <a:cs typeface="Space Grotesk"/>
              </a:defRPr>
            </a:lvl7pPr>
            <a:lvl8pPr>
              <a:defRPr sz="3500" b="1">
                <a:solidFill>
                  <a:srgbClr val="FFFFFF"/>
                </a:solidFill>
                <a:latin typeface="Space Grotesk"/>
                <a:ea typeface="Space Grotesk"/>
                <a:cs typeface="Space Grotesk"/>
              </a:defRPr>
            </a:lvl8pPr>
            <a:lvl9pPr>
              <a:defRPr sz="3500" b="1">
                <a:solidFill>
                  <a:srgbClr val="FFFFFF"/>
                </a:solidFill>
                <a:latin typeface="Space Grotesk"/>
                <a:ea typeface="Space Grotesk"/>
                <a:cs typeface="Space Grotesk"/>
              </a:defRPr>
            </a:lvl9pPr>
          </a:lstStyle>
          <a:p xmlns:a="http://schemas.openxmlformats.org/drawingml/2006/main">
            <a:pPr>
              <a:lnSpc>
                <a:spcPct val="98000"/>
              </a:lnSpc>
              <a:buNone/>
              <a:defRPr sz="3500" b="1">
                <a:solidFill>
                  <a:srgbClr val="FFFFFF"/>
                </a:solidFill>
                <a:latin typeface="Space Grotesk"/>
                <a:ea typeface="Space Grotesk"/>
                <a:cs typeface="Space Grotesk"/>
              </a:defRPr>
            </a:pPr>
            <a:r>
              <a:rPr sz="3500" b="1">
                <a:solidFill>
                  <a:srgbClr val="FFFFFF"/>
                </a:solidFill>
                <a:latin typeface="Space Grotesk"/>
                <a:ea typeface="Space Grotesk"/>
                <a:cs typeface="Space Grotesk"/>
              </a:rPr>
              <a:t>Before the ride</a:t>
            </a:r>
          </a:p>
          <a:p xmlns:a="http://schemas.openxmlformats.org/drawingml/2006/main">
            <a:pPr>
              <a:lnSpc>
                <a:spcPct val="98000"/>
              </a:lnSpc>
              <a:buNone/>
              <a:defRPr sz="3500" b="1">
                <a:solidFill>
                  <a:srgbClr val="FFFFFF"/>
                </a:solidFill>
                <a:latin typeface="Space Grotesk"/>
                <a:ea typeface="Space Grotesk"/>
                <a:cs typeface="Space Grotesk"/>
              </a:defRPr>
            </a:pPr>
            <a:r>
              <a:rPr sz="3500" b="1">
                <a:solidFill>
                  <a:srgbClr val="FFFFFF"/>
                </a:solidFill>
                <a:latin typeface="Space Grotesk"/>
                <a:ea typeface="Space Grotesk"/>
                <a:cs typeface="Space Grotesk"/>
              </a:rPr>
              <a:t>home, check your lights.</a:t>
            </a:r>
          </a:p>
        </p:txBody>
      </p:sp>
      <p:sp>
        <p:nvSpPr>
          <p:cNvPr id="5" name="Light action">
            <a:extLst xmlns:a="http://schemas.openxmlformats.org/drawingml/2006/main">
              <a:ext uri="{FF2B5EF4-FFF2-40B4-BE49-F238E27FC236}">
                <a16:creationId xmlns:a16="http://schemas.microsoft.com/office/drawing/2014/main" id="{F9F46AAF-3CAE-4532-84C2-89BD014D15A4}"/>
              </a:ext>
            </a:extLst>
          </p:cNvPr>
          <p:cNvSpPr>
            <a:spLocks xmlns:a="http://schemas.openxmlformats.org/drawingml/2006/main" noGrp="1"/>
          </p:cNvSpPr>
          <p:nvPr/>
        </p:nvSpPr>
        <p:spPr>
          <a:xfrm xmlns:a="http://schemas.openxmlformats.org/drawingml/2006/main">
            <a:off x="428625" y="7953375"/>
            <a:ext cx="6896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80" b="1">
                <a:solidFill>
                  <a:srgbClr val="FFFF0A"/>
                </a:solidFill>
                <a:latin typeface="Arial"/>
                <a:ea typeface="Arial"/>
                <a:cs typeface="Arial"/>
              </a:defRPr>
            </a:defPPr>
            <a:lvl1pPr>
              <a:defRPr sz="1380" b="1">
                <a:solidFill>
                  <a:srgbClr val="FFFF0A"/>
                </a:solidFill>
                <a:latin typeface="Arial"/>
                <a:ea typeface="Arial"/>
                <a:cs typeface="Arial"/>
              </a:defRPr>
            </a:lvl1pPr>
            <a:lvl2pPr>
              <a:defRPr sz="1380" b="1">
                <a:solidFill>
                  <a:srgbClr val="FFFF0A"/>
                </a:solidFill>
                <a:latin typeface="Arial"/>
                <a:ea typeface="Arial"/>
                <a:cs typeface="Arial"/>
              </a:defRPr>
            </a:lvl2pPr>
            <a:lvl3pPr>
              <a:defRPr sz="1380" b="1">
                <a:solidFill>
                  <a:srgbClr val="FFFF0A"/>
                </a:solidFill>
                <a:latin typeface="Arial"/>
                <a:ea typeface="Arial"/>
                <a:cs typeface="Arial"/>
              </a:defRPr>
            </a:lvl3pPr>
            <a:lvl4pPr>
              <a:defRPr sz="1380" b="1">
                <a:solidFill>
                  <a:srgbClr val="FFFF0A"/>
                </a:solidFill>
                <a:latin typeface="Arial"/>
                <a:ea typeface="Arial"/>
                <a:cs typeface="Arial"/>
              </a:defRPr>
            </a:lvl4pPr>
            <a:lvl5pPr>
              <a:defRPr sz="1380" b="1">
                <a:solidFill>
                  <a:srgbClr val="FFFF0A"/>
                </a:solidFill>
                <a:latin typeface="Arial"/>
                <a:ea typeface="Arial"/>
                <a:cs typeface="Arial"/>
              </a:defRPr>
            </a:lvl5pPr>
            <a:lvl6pPr>
              <a:defRPr sz="1380" b="1">
                <a:solidFill>
                  <a:srgbClr val="FFFF0A"/>
                </a:solidFill>
                <a:latin typeface="Arial"/>
                <a:ea typeface="Arial"/>
                <a:cs typeface="Arial"/>
              </a:defRPr>
            </a:lvl6pPr>
            <a:lvl7pPr>
              <a:defRPr sz="1380" b="1">
                <a:solidFill>
                  <a:srgbClr val="FFFF0A"/>
                </a:solidFill>
                <a:latin typeface="Arial"/>
                <a:ea typeface="Arial"/>
                <a:cs typeface="Arial"/>
              </a:defRPr>
            </a:lvl7pPr>
            <a:lvl8pPr>
              <a:defRPr sz="1380" b="1">
                <a:solidFill>
                  <a:srgbClr val="FFFF0A"/>
                </a:solidFill>
                <a:latin typeface="Arial"/>
                <a:ea typeface="Arial"/>
                <a:cs typeface="Arial"/>
              </a:defRPr>
            </a:lvl8pPr>
            <a:lvl9pPr>
              <a:defRPr sz="1380" b="1">
                <a:solidFill>
                  <a:srgbClr val="FFFF0A"/>
                </a:solidFill>
                <a:latin typeface="Arial"/>
                <a:ea typeface="Arial"/>
                <a:cs typeface="Arial"/>
              </a:defRPr>
            </a:lvl9pPr>
          </a:lstStyle>
          <a:p xmlns:a="http://schemas.openxmlformats.org/drawingml/2006/main">
            <a:pPr>
              <a:lnSpc>
                <a:spcPct val="98000"/>
              </a:lnSpc>
              <a:buNone/>
              <a:defRPr sz="1380" b="1">
                <a:solidFill>
                  <a:srgbClr val="FFFF0A"/>
                </a:solidFill>
                <a:latin typeface="Arial"/>
                <a:ea typeface="Arial"/>
                <a:cs typeface="Arial"/>
              </a:defRPr>
            </a:pPr>
            <a:r>
              <a:rPr sz="1380" b="1">
                <a:solidFill>
                  <a:srgbClr val="FFFF0A"/>
                </a:solidFill>
                <a:latin typeface="Arial"/>
                <a:ea typeface="Arial"/>
                <a:cs typeface="Arial"/>
              </a:rPr>
              <a:t>Secure your lights. Check the power. Switch both on. Aim the front light without glare. Ask a bike shop about fitting help.</a:t>
            </a:r>
          </a:p>
        </p:txBody>
      </p:sp>
      <p:sp>
        <p:nvSpPr>
          <p:cNvPr id="6" name="Brand footer">
            <a:extLst xmlns:a="http://schemas.openxmlformats.org/drawingml/2006/main">
              <a:ext uri="{FF2B5EF4-FFF2-40B4-BE49-F238E27FC236}">
                <a16:creationId xmlns:a16="http://schemas.microsoft.com/office/drawing/2014/main" id="{122970E6-87F3-4AAD-BBAF-ACF65B5615DD}"/>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2868C52-F66A-46FF-A6CB-0B7E2FCE7A9F}"/>
              </a:ext>
            </a:extLst>
          </p:cNvPr>
          <p:cNvPicPr>
            <a:picLocks xmlns:a="http://schemas.openxmlformats.org/drawingml/2006/main" noChangeAspect="1"/>
          </p:cNvPicPr>
          <p:nvPr/>
        </p:nvPicPr>
        <p:blipFill>
          <a:blip xmlns:r="http://schemas.openxmlformats.org/officeDocument/2006/relationships" xmlns:a="http://schemas.openxmlformats.org/drawingml/2006/main" r:embed="Rea5f0b343dac47f2"/>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8" name="Readable URL">
            <a:extLst xmlns:a="http://schemas.openxmlformats.org/drawingml/2006/main">
              <a:ext uri="{FF2B5EF4-FFF2-40B4-BE49-F238E27FC236}">
                <a16:creationId xmlns:a16="http://schemas.microsoft.com/office/drawing/2014/main" id="{421D3C98-4E15-4879-ADD9-2BE3452053D1}"/>
              </a:ext>
            </a:extLst>
          </p:cNvPr>
          <p:cNvSpPr>
            <a:spLocks xmlns:a="http://schemas.openxmlformats.org/drawingml/2006/main" noGrp="1"/>
          </p:cNvSpPr>
          <p:nvPr/>
        </p:nvSpPr>
        <p:spPr>
          <a:xfrm xmlns:a="http://schemas.openxmlformats.org/drawingml/2006/main">
            <a:off x="1257300" y="9010650"/>
            <a:ext cx="4914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9" name="Community invitation">
            <a:extLst xmlns:a="http://schemas.openxmlformats.org/drawingml/2006/main">
              <a:ext uri="{FF2B5EF4-FFF2-40B4-BE49-F238E27FC236}">
                <a16:creationId xmlns:a16="http://schemas.microsoft.com/office/drawing/2014/main" id="{3A665EF7-746F-4AEF-8B4B-84C7751ABACC}"/>
              </a:ext>
            </a:extLst>
          </p:cNvPr>
          <p:cNvSpPr>
            <a:spLocks xmlns:a="http://schemas.openxmlformats.org/drawingml/2006/main" noGrp="1"/>
          </p:cNvSpPr>
          <p:nvPr/>
        </p:nvSpPr>
        <p:spPr>
          <a:xfrm xmlns:a="http://schemas.openxmlformats.org/drawingml/2006/main">
            <a:off x="1257300" y="9525000"/>
            <a:ext cx="4819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public rides.</a:t>
            </a:r>
          </a:p>
        </p:txBody>
      </p:sp>
      <p:sp>
        <p:nvSpPr>
          <p:cNvPr id="10" name="QR quiet zone">
            <a:extLst xmlns:a="http://schemas.openxmlformats.org/drawingml/2006/main">
              <a:ext uri="{FF2B5EF4-FFF2-40B4-BE49-F238E27FC236}">
                <a16:creationId xmlns:a16="http://schemas.microsoft.com/office/drawing/2014/main" id="{ED3A90F0-B04F-4BE4-BE3E-4CEBC5A62E34}"/>
              </a:ext>
            </a:extLst>
          </p:cNvPr>
          <p:cNvSpPr>
            <a:spLocks xmlns:a="http://schemas.openxmlformats.org/drawingml/2006/main" noGrp="1"/>
          </p:cNvSpPr>
          <p:nvPr/>
        </p:nvSpPr>
        <p:spPr>
          <a:xfrm xmlns:a="http://schemas.openxmlformats.org/drawingml/2006/main">
            <a:off x="6534150" y="9001125"/>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A182CBA8-7A69-41D3-87B7-8183A1E85253}"/>
              </a:ext>
            </a:extLst>
          </p:cNvPr>
          <p:cNvPicPr>
            <a:picLocks xmlns:a="http://schemas.openxmlformats.org/drawingml/2006/main" noChangeAspect="1"/>
          </p:cNvPicPr>
          <p:nvPr/>
        </p:nvPicPr>
        <p:blipFill>
          <a:blip xmlns:r="http://schemas.openxmlformats.org/officeDocument/2006/relationships" xmlns:a="http://schemas.openxmlformats.org/drawingml/2006/main" r:embed="R1d221e5a4947461a"/>
          <a:stretch xmlns:a="http://schemas.openxmlformats.org/drawingml/2006/main"/>
        </p:blipFill>
        <p:spPr>
          <a:xfrm xmlns:a="http://schemas.openxmlformats.org/drawingml/2006/main">
            <a:off x="6581775" y="9048750"/>
            <a:ext cx="781050" cy="781050"/>
          </a:xfrm>
          <a:prstGeom xmlns:a="http://schemas.openxmlformats.org/drawingml/2006/main" prst="rect">
            <a:avLst/>
          </a:prstGeom>
        </p:spPr>
      </p:pic>
    </p:spTree>
    <p:extLst>
      <p:ext uri="{BB962C8B-B14F-4D97-AF65-F5344CB8AC3E}">
        <p14:creationId xmlns:p14="http://schemas.microsoft.com/office/powerpoint/2010/main" val="20977060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2026-10-29T13:48:39.1810000Z</dcterms:created>
  <dcterms:modified xsi:type="dcterms:W3CDTF">2026-10-29T13:48:39.1810000Z</dcterms:modified>
</coreProperties>
</file>