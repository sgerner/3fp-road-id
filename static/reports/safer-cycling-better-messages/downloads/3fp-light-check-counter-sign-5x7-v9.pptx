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21aae912e4f43" /><Relationship Type="http://schemas.openxmlformats.org/officeDocument/2006/relationships/extended-properties" Target="/docProps/app.xml" Id="R527bd0f1e5214d79" /><Relationship Type="http://schemas.openxmlformats.org/officeDocument/2006/relationships/officeDocument" Target="/ppt/presentation.xml" Id="Rb6e2a7ab42f1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65078a01924930"/>
  </p:sldMasterIdLst>
  <p:notesMasterIdLst>
    <p:notesMasterId xmlns:r="http://schemas.openxmlformats.org/officeDocument/2006/relationships" r:id="R96ca9ed8c48f4c19"/>
  </p:notesMasterIdLst>
  <p:sldIdLst>
    <p:sldId xmlns:r="http://schemas.openxmlformats.org/officeDocument/2006/relationships" id="256" r:id="Rad60e1742cd44cfc"/>
  </p:sldIdLst>
  <p:sldSz cx="4572000" cy="6400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85add289654e4f" /><Relationship Type="http://schemas.openxmlformats.org/officeDocument/2006/relationships/slideMaster" Target="/ppt/slideMasters/slideMaster1.xml" Id="R5c65078a01924930" /><Relationship Type="http://schemas.openxmlformats.org/officeDocument/2006/relationships/notesMaster" Target="/ppt/notesMasters/notesMaster1.xml" Id="R96ca9ed8c48f4c19" /><Relationship Type="http://schemas.openxmlformats.org/officeDocument/2006/relationships/presProps" Target="/ppt/presProps.xml" Id="R0f20051234874038" /><Relationship Type="http://schemas.openxmlformats.org/officeDocument/2006/relationships/tableStyles" Target="/ppt/tableStyles.xml" Id="R6e05990f6b06413e" /><Relationship Type="http://schemas.openxmlformats.org/officeDocument/2006/relationships/slide" Target="/ppt/slides/slide1.xml" Id="Rad60e1742cd44c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2628da22545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dee1326979429b" /><Relationship Type="http://schemas.openxmlformats.org/officeDocument/2006/relationships/notesMaster" Target="/ppt/notesMasters/notesMaster1.xml" Id="R9cf7367b62a948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3FP v9 | Bike-light check at an equipment counter | 29 October 2026. Original native vector illustration. Draft for comprehension testing, not an evaluated intervention. Prioritize safer infrastructure and speeds. Arrange real delivery and support before use. Sources: R20 visibility review; R42 lights trial; R67 picture-supported instruction; verify actual mounts and equipment. Public report edition4.4, output/public-safety-review/REPORT.md. QR to https://3fp.org.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efc6a4bd74f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e4141afcc41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128d505a8a48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20ff76c6842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60b02ac8042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1b2e8e57341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2BA317-AD5A-4AF4-B47F-438B9DD1F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418080"/>
            <a:ext cx="3657600" cy="92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D2CB94-C598-4B20-A0C6-F44E0BFDAB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3520440"/>
            <a:ext cx="32004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C1E448-96B3-4C6C-9043-59E348358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667000"/>
            <a:ext cx="3657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F6DBD4-8E0D-44AB-8E87-C49906280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7175" y="497840"/>
            <a:ext cx="4057650" cy="7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6129B2-518B-4A0B-8879-9CC4C3E22C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7175" y="1778000"/>
            <a:ext cx="4057650" cy="39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57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000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143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286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5429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6572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7715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8858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0001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AE45F6-870B-4E05-AA9C-86FDDF3410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7175" y="497840"/>
            <a:ext cx="4057650" cy="7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776AC7-09F1-405E-83E3-1F7F9C44E2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7175" y="1778000"/>
            <a:ext cx="1885950" cy="39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57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000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143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286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5429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6572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7715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8858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0001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6C63D6-9181-450B-80E1-FC5D9B65C1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428875" y="1778000"/>
            <a:ext cx="1885950" cy="39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57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000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143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286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5429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6572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7715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8858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0001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1EE5A8-7E3B-4B10-AB1C-4EB6383BF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7175" y="497840"/>
            <a:ext cx="4057650" cy="78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722370-6276-49EB-934D-069006CEA1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7175" y="1778000"/>
            <a:ext cx="1885950" cy="398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57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000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143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286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5429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6572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7715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8858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000125" indent="-85725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har char="•"/>
              <a:defRPr sz="8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e97e58200a457e" /><Relationship Type="http://schemas.openxmlformats.org/officeDocument/2006/relationships/slideLayout" Target="/ppt/slideLayouts/slideLayout1.xml" Id="Rbb21aeb99ee449d4" /><Relationship Type="http://schemas.openxmlformats.org/officeDocument/2006/relationships/slideLayout" Target="/ppt/slideLayouts/slideLayout2.xml" Id="R19c10de8e5f54c9d" /><Relationship Type="http://schemas.openxmlformats.org/officeDocument/2006/relationships/slideLayout" Target="/ppt/slideLayouts/slideLayout3.xml" Id="R745bfe3fba144492" /><Relationship Type="http://schemas.openxmlformats.org/officeDocument/2006/relationships/slideLayout" Target="/ppt/slideLayouts/slideLayout4.xml" Id="R8183da0101454570" /><Relationship Type="http://schemas.openxmlformats.org/officeDocument/2006/relationships/slideLayout" Target="/ppt/slideLayouts/slideLayout5.xml" Id="R78c0033f7d2943b4" /><Relationship Type="http://schemas.openxmlformats.org/officeDocument/2006/relationships/slideLayout" Target="/ppt/slideLayouts/slideLayout6.xml" Id="Ree4d0d228057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21aeb99ee449d4"/>
    <p:sldLayoutId xmlns:r="http://schemas.openxmlformats.org/officeDocument/2006/relationships" id="2147483650" r:id="R19c10de8e5f54c9d"/>
    <p:sldLayoutId xmlns:r="http://schemas.openxmlformats.org/officeDocument/2006/relationships" id="2147483651" r:id="R745bfe3fba144492"/>
    <p:sldLayoutId xmlns:r="http://schemas.openxmlformats.org/officeDocument/2006/relationships" id="2147483652" r:id="R8183da0101454570"/>
    <p:sldLayoutId xmlns:r="http://schemas.openxmlformats.org/officeDocument/2006/relationships" id="2147483653" r:id="R78c0033f7d2943b4"/>
    <p:sldLayoutId xmlns:r="http://schemas.openxmlformats.org/officeDocument/2006/relationships" id="2147483654" r:id="Ree4d0d228057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a7bc1a1594aa3" /><Relationship Type="http://schemas.openxmlformats.org/officeDocument/2006/relationships/image" Target="/ppt/media/image.png" Id="R1077c9b6ee364db5" /><Relationship Type="http://schemas.openxmlformats.org/officeDocument/2006/relationships/image" Target="/ppt/media/image2.png" Id="Raf2c308c5c9747d6" /><Relationship Type="http://schemas.openxmlformats.org/officeDocument/2006/relationships/notesSlide" Target="/ppt/notesSlides/notesSlide1.xml" Id="R3125ff176f264b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92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tup invitation">
            <a:extLst xmlns:a="http://schemas.openxmlformats.org/drawingml/2006/main">
              <a:ext uri="{FF2B5EF4-FFF2-40B4-BE49-F238E27FC236}">
                <a16:creationId xmlns:a16="http://schemas.microsoft.com/office/drawing/2014/main" id="{FE9971B3-D304-48BD-A65F-DFFA39A9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095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rPr>
              <a:t>BEFORE YOUR NEXT RIDE</a:t>
            </a:r>
          </a:p>
        </p:txBody>
      </p:sp>
      <p:sp>
        <p:nvSpPr>
          <p:cNvPr id="2" name="Main action">
            <a:extLst xmlns:a="http://schemas.openxmlformats.org/drawingml/2006/main">
              <a:ext uri="{FF2B5EF4-FFF2-40B4-BE49-F238E27FC236}">
                <a16:creationId xmlns:a16="http://schemas.microsoft.com/office/drawing/2014/main" id="{8A31CA81-C785-4FD0-ACC4-497ED502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81025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LIGHTS ON.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POWER CHECKED.</a:t>
            </a:r>
          </a:p>
        </p:txBody>
      </p:sp>
      <p:sp>
        <p:nvSpPr>
          <p:cNvPr id="3" name="Equipment scene">
            <a:extLst xmlns:a="http://schemas.openxmlformats.org/drawingml/2006/main">
              <a:ext uri="{FF2B5EF4-FFF2-40B4-BE49-F238E27FC236}">
                <a16:creationId xmlns:a16="http://schemas.microsoft.com/office/drawing/2014/main" id="{5974D6F8-8B02-436D-BA9A-8C041A0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81175"/>
            <a:ext cx="45720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25F"/>
          </a:solidFill>
          <a:ln xmlns:a="http://schemas.openxmlformats.org/drawingml/2006/main" w="0">
            <a:noFill/>
          </a:ln>
        </p:spPr>
      </p:sp>
      <p:sp>
        <p:nvSpPr>
          <p:cNvPr id="4" name="Wheel 112">
            <a:extLst xmlns:a="http://schemas.openxmlformats.org/drawingml/2006/main">
              <a:ext uri="{FF2B5EF4-FFF2-40B4-BE49-F238E27FC236}">
                <a16:creationId xmlns:a16="http://schemas.microsoft.com/office/drawing/2014/main" id="{B45B5231-4F8A-4D19-BB0E-CA996DFC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76525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5" name="Wheel 357">
            <a:extLst xmlns:a="http://schemas.openxmlformats.org/drawingml/2006/main">
              <a:ext uri="{FF2B5EF4-FFF2-40B4-BE49-F238E27FC236}">
                <a16:creationId xmlns:a16="http://schemas.microsoft.com/office/drawing/2014/main" id="{E125770B-A5B3-4535-AF06-D6DBF440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76525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6" name="Rear lower frame">
            <a:extLst xmlns:a="http://schemas.openxmlformats.org/drawingml/2006/main">
              <a:ext uri="{FF2B5EF4-FFF2-40B4-BE49-F238E27FC236}">
                <a16:creationId xmlns:a16="http://schemas.microsoft.com/office/drawing/2014/main" id="{25B63B33-DB88-4F83-AD45-15DCA523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209925"/>
            <a:ext cx="136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7" name="Rear upward frame">
            <a:extLst xmlns:a="http://schemas.openxmlformats.org/drawingml/2006/main">
              <a:ext uri="{FF2B5EF4-FFF2-40B4-BE49-F238E27FC236}">
                <a16:creationId xmlns:a16="http://schemas.microsoft.com/office/drawing/2014/main" id="{14E5361D-E76E-48AB-92E8-CE787842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7177">
            <a:off x="853323" y="2771775"/>
            <a:ext cx="11127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8" name="Top tube">
            <a:extLst xmlns:a="http://schemas.openxmlformats.org/drawingml/2006/main">
              <a:ext uri="{FF2B5EF4-FFF2-40B4-BE49-F238E27FC236}">
                <a16:creationId xmlns:a16="http://schemas.microsoft.com/office/drawing/2014/main" id="{0938F99E-FC9E-4D09-9F62-9F3FCA5A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2333625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9" name="Seat to crank">
            <a:extLst xmlns:a="http://schemas.openxmlformats.org/drawingml/2006/main">
              <a:ext uri="{FF2B5EF4-FFF2-40B4-BE49-F238E27FC236}">
                <a16:creationId xmlns:a16="http://schemas.microsoft.com/office/drawing/2014/main" id="{0E3299E1-B465-4EFD-AA7B-60C32047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40474">
            <a:off x="1537283" y="2771775"/>
            <a:ext cx="11069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10" name="Crank to front stem">
            <a:extLst xmlns:a="http://schemas.openxmlformats.org/drawingml/2006/main">
              <a:ext uri="{FF2B5EF4-FFF2-40B4-BE49-F238E27FC236}">
                <a16:creationId xmlns:a16="http://schemas.microsoft.com/office/drawing/2014/main" id="{957ADD40-42F9-471B-9D89-747D681D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76334">
            <a:off x="2160698" y="2771775"/>
            <a:ext cx="9840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11" name="Front fork">
            <a:extLst xmlns:a="http://schemas.openxmlformats.org/drawingml/2006/main">
              <a:ext uri="{FF2B5EF4-FFF2-40B4-BE49-F238E27FC236}">
                <a16:creationId xmlns:a16="http://schemas.microsoft.com/office/drawing/2014/main" id="{7529EF44-82B9-4B45-BC9B-4E0C2723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547675">
            <a:off x="2628011" y="2771775"/>
            <a:ext cx="10209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12" name="Seatpost">
            <a:extLst xmlns:a="http://schemas.openxmlformats.org/drawingml/2006/main">
              <a:ext uri="{FF2B5EF4-FFF2-40B4-BE49-F238E27FC236}">
                <a16:creationId xmlns:a16="http://schemas.microsoft.com/office/drawing/2014/main" id="{008C73FB-C485-4983-9FB9-1DBFAE0C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52588" y="2233613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13" name="Saddle">
            <a:extLst xmlns:a="http://schemas.openxmlformats.org/drawingml/2006/main">
              <a:ext uri="{FF2B5EF4-FFF2-40B4-BE49-F238E27FC236}">
                <a16:creationId xmlns:a16="http://schemas.microsoft.com/office/drawing/2014/main" id="{DFE6DE16-8A46-4F5C-B734-BEBE8FA7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1336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14" name="Handlebar">
            <a:extLst xmlns:a="http://schemas.openxmlformats.org/drawingml/2006/main">
              <a:ext uri="{FF2B5EF4-FFF2-40B4-BE49-F238E27FC236}">
                <a16:creationId xmlns:a16="http://schemas.microsoft.com/office/drawing/2014/main" id="{BA6DBE22-819E-4692-A673-F267E4F8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38438" y="2195513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15" name="Handlebar grip">
            <a:extLst xmlns:a="http://schemas.openxmlformats.org/drawingml/2006/main">
              <a:ext uri="{FF2B5EF4-FFF2-40B4-BE49-F238E27FC236}">
                <a16:creationId xmlns:a16="http://schemas.microsoft.com/office/drawing/2014/main" id="{D1BB2373-13C0-4DF6-95B6-0B4BC9F8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20574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0A"/>
            </a:solidFill>
          </a:ln>
        </p:spPr>
      </p:sp>
      <p:sp>
        <p:nvSpPr>
          <p:cNvPr id="16" name="Rear lamp">
            <a:extLst xmlns:a="http://schemas.openxmlformats.org/drawingml/2006/main">
              <a:ext uri="{FF2B5EF4-FFF2-40B4-BE49-F238E27FC236}">
                <a16:creationId xmlns:a16="http://schemas.microsoft.com/office/drawing/2014/main" id="{A7CEEFE8-30F5-4C92-888A-E59BA7CE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190750"/>
            <a:ext cx="1238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35"/>
          </a:solidFill>
          <a:ln xmlns:a="http://schemas.openxmlformats.org/drawingml/2006/main" w="0">
            <a:noFill/>
          </a:ln>
        </p:spPr>
      </p:sp>
      <p:sp>
        <p:nvSpPr>
          <p:cNvPr id="17" name="Front lamp">
            <a:extLst xmlns:a="http://schemas.openxmlformats.org/drawingml/2006/main">
              <a:ext uri="{FF2B5EF4-FFF2-40B4-BE49-F238E27FC236}">
                <a16:creationId xmlns:a16="http://schemas.microsoft.com/office/drawing/2014/main" id="{16A7FB65-82DC-4C2D-9669-C9F42D88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9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Rear label">
            <a:extLst xmlns:a="http://schemas.openxmlformats.org/drawingml/2006/main">
              <a:ext uri="{FF2B5EF4-FFF2-40B4-BE49-F238E27FC236}">
                <a16:creationId xmlns:a16="http://schemas.microsoft.com/office/drawing/2014/main" id="{AD81CEA1-9FEE-45CB-AF01-AB67AB06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09775"/>
            <a:ext cx="1333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RED REAR</a:t>
            </a:r>
          </a:p>
        </p:txBody>
      </p:sp>
      <p:sp>
        <p:nvSpPr>
          <p:cNvPr id="19" name="Rear leader">
            <a:extLst xmlns:a="http://schemas.openxmlformats.org/drawingml/2006/main">
              <a:ext uri="{FF2B5EF4-FFF2-40B4-BE49-F238E27FC236}">
                <a16:creationId xmlns:a16="http://schemas.microsoft.com/office/drawing/2014/main" id="{E153BB13-153D-462A-A0BA-7053F725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9678">
            <a:off x="733197" y="2224088"/>
            <a:ext cx="8958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0" name="Front label">
            <a:extLst xmlns:a="http://schemas.openxmlformats.org/drawingml/2006/main">
              <a:ext uri="{FF2B5EF4-FFF2-40B4-BE49-F238E27FC236}">
                <a16:creationId xmlns:a16="http://schemas.microsoft.com/office/drawing/2014/main" id="{3D057687-762E-469B-9F62-E25D7B9E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00250"/>
            <a:ext cx="1171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WHITE FRONT</a:t>
            </a:r>
          </a:p>
        </p:txBody>
      </p:sp>
      <p:sp>
        <p:nvSpPr>
          <p:cNvPr id="21" name="Front leader">
            <a:extLst xmlns:a="http://schemas.openxmlformats.org/drawingml/2006/main">
              <a:ext uri="{FF2B5EF4-FFF2-40B4-BE49-F238E27FC236}">
                <a16:creationId xmlns:a16="http://schemas.microsoft.com/office/drawing/2014/main" id="{A098E062-EC6D-4FCD-8ABA-955D570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20574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2" name="Check list">
            <a:extLst xmlns:a="http://schemas.openxmlformats.org/drawingml/2006/main">
              <a:ext uri="{FF2B5EF4-FFF2-40B4-BE49-F238E27FC236}">
                <a16:creationId xmlns:a16="http://schemas.microsoft.com/office/drawing/2014/main" id="{80D209C2-DBF8-4B85-9E9F-61A45B5C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019550"/>
            <a:ext cx="4095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Secure the mounts.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Check the charge or batteries.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Switch on front and rear.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Aim the front light without glare.</a:t>
            </a:r>
          </a:p>
        </p:txBody>
      </p:sp>
      <p:sp>
        <p:nvSpPr>
          <p:cNvPr id="23" name="Help invitation">
            <a:extLst xmlns:a="http://schemas.openxmlformats.org/drawingml/2006/main">
              <a:ext uri="{FF2B5EF4-FFF2-40B4-BE49-F238E27FC236}">
                <a16:creationId xmlns:a16="http://schemas.microsoft.com/office/drawing/2014/main" id="{2908B5FF-9078-4A68-8EFD-FFDB2A6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286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rPr>
              <a:t>Need a hand? Ask a bike shop about fitting help.</a:t>
            </a:r>
          </a:p>
        </p:txBody>
      </p:sp>
      <p:sp>
        <p:nvSpPr>
          <p:cNvPr id="24" name="Equipment guidance">
            <a:extLst xmlns:a="http://schemas.openxmlformats.org/drawingml/2006/main">
              <a:ext uri="{FF2B5EF4-FFF2-40B4-BE49-F238E27FC236}">
                <a16:creationId xmlns:a16="http://schemas.microsoft.com/office/drawing/2014/main" id="{0A40AA1F-D54D-46A4-B2D2-1FBBF120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6197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Follow the light maker’s guidance and local light/reflector rules.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4FABD2D2-207E-4C5C-BEE5-644BF0C2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81675"/>
            <a:ext cx="4572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25F"/>
          </a:solidFill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FA36E3-3D9A-4886-8633-5093E237D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7c9b6ee364db5"/>
          <a:stretch xmlns:a="http://schemas.openxmlformats.org/drawingml/2006/main"/>
        </p:blipFill>
        <p:spPr>
          <a:xfrm xmlns:a="http://schemas.openxmlformats.org/drawingml/2006/main">
            <a:off x="152400" y="58864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7" name="Website">
            <a:extLst xmlns:a="http://schemas.openxmlformats.org/drawingml/2006/main">
              <a:ext uri="{FF2B5EF4-FFF2-40B4-BE49-F238E27FC236}">
                <a16:creationId xmlns:a16="http://schemas.microsoft.com/office/drawing/2014/main" id="{8C3934C4-53FD-42E7-9897-6342F4BD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rPr>
              <a:t>3fp.org</a:t>
            </a:r>
          </a:p>
        </p:txBody>
      </p:sp>
      <p:sp>
        <p:nvSpPr>
          <p:cNvPr id="28" name="Groups and rides">
            <a:extLst xmlns:a="http://schemas.openxmlformats.org/drawingml/2006/main">
              <a:ext uri="{FF2B5EF4-FFF2-40B4-BE49-F238E27FC236}">
                <a16:creationId xmlns:a16="http://schemas.microsoft.com/office/drawing/2014/main" id="{23AEAE5A-DB10-4FB6-9A0D-FDD513EB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3190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groups and public rides.</a:t>
            </a:r>
          </a:p>
        </p:txBody>
      </p:sp>
      <p:sp>
        <p:nvSpPr>
          <p:cNvPr id="29" name="QR quiet zone">
            <a:extLst xmlns:a="http://schemas.openxmlformats.org/drawingml/2006/main">
              <a:ext uri="{FF2B5EF4-FFF2-40B4-BE49-F238E27FC236}">
                <a16:creationId xmlns:a16="http://schemas.microsoft.com/office/drawing/2014/main" id="{10EA5508-BBED-4F88-A34E-30A23362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67400"/>
            <a:ext cx="447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7430F-A0F2-4EE8-A69B-15EEA7D95B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c308c5c9747d6"/>
          <a:stretch xmlns:a="http://schemas.openxmlformats.org/drawingml/2006/main"/>
        </p:blipFill>
        <p:spPr>
          <a:xfrm xmlns:a="http://schemas.openxmlformats.org/drawingml/2006/main">
            <a:off x="4038600" y="5905500"/>
            <a:ext cx="371475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29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2026-10-29T14:26:31.7900000Z</dcterms:created>
  <dcterms:modified xsi:type="dcterms:W3CDTF">2026-10-29T14:26:31.7910000Z</dcterms:modified>
</coreProperties>
</file>