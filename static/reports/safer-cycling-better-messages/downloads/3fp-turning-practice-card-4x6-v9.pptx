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6c21479e554589" /><Relationship Type="http://schemas.openxmlformats.org/officeDocument/2006/relationships/extended-properties" Target="/docProps/app.xml" Id="R3153045d63e3495e" /><Relationship Type="http://schemas.openxmlformats.org/officeDocument/2006/relationships/officeDocument" Target="/ppt/presentation.xml" Id="R3852c288d4aa45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844cbd87a94cdf"/>
  </p:sldMasterIdLst>
  <p:notesMasterIdLst>
    <p:notesMasterId xmlns:r="http://schemas.openxmlformats.org/officeDocument/2006/relationships" r:id="Raa227d538fa045d9"/>
  </p:notesMasterIdLst>
  <p:sldIdLst>
    <p:sldId xmlns:r="http://schemas.openxmlformats.org/officeDocument/2006/relationships" id="256" r:id="R86bff6f25f7c4dbb"/>
    <p:sldId xmlns:r="http://schemas.openxmlformats.org/officeDocument/2006/relationships" id="257" r:id="R9044efb23e1e415b"/>
  </p:sldIdLst>
  <p:sldSz cx="36576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824d33b1f4091" /><Relationship Type="http://schemas.openxmlformats.org/officeDocument/2006/relationships/slideMaster" Target="/ppt/slideMasters/slideMaster1.xml" Id="R68844cbd87a94cdf" /><Relationship Type="http://schemas.openxmlformats.org/officeDocument/2006/relationships/notesMaster" Target="/ppt/notesMasters/notesMaster1.xml" Id="Raa227d538fa045d9" /><Relationship Type="http://schemas.openxmlformats.org/officeDocument/2006/relationships/presProps" Target="/ppt/presProps.xml" Id="R8da382ccb8324936" /><Relationship Type="http://schemas.openxmlformats.org/officeDocument/2006/relationships/tableStyles" Target="/ppt/tableStyles.xml" Id="R98fa5fbd3cb44433" /><Relationship Type="http://schemas.openxmlformats.org/officeDocument/2006/relationships/slide" Target="/ppt/slides/slide1.xml" Id="R86bff6f25f7c4dbb" /><Relationship Type="http://schemas.openxmlformats.org/officeDocument/2006/relationships/slide" Target="/ppt/slides/slide2.xml" Id="R9044efb23e1e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911582554e44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a28d3dc4564fe7" /><Relationship Type="http://schemas.openxmlformats.org/officeDocument/2006/relationships/notesMaster" Target="/ppt/notesMasters/notesMaster1.xml" Id="Rfc867564aca0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3e98e209584067" /><Relationship Type="http://schemas.openxmlformats.org/officeDocument/2006/relationships/notesMaster" Target="/ppt/notesMasters/notesMaster1.xml" Id="R42a4472da41244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3FP v9 | Check before turning | 29 October 2026. Original native vector illustration. Draft for comprehension testing, not an evaluated intervention. Prioritize safer infrastructure and speeds. Arrange real delivery and support before use. Sources: R45 WHO Cyclist safety; R67 Houts2006 (indirect design guidance). Public report edition4.4, output/public-safety-review/REPORT.md. QR to https://3fp.org.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3FP v9 | Turning teach-back with an actual vehicle | 29 October 2026. Original native vector illustration. Draft for comprehension testing, not an evaluated intervention. Prioritize safer infrastructure and speeds. Arrange real delivery and support before use. Sources: R45; R47 CAST; R68 NHTSA driver education audit. Public report edition4.4, output/public-safety-review/REPORT.md. QR to https://3fp.org.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71249a7dcd4e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710317f6140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c1d167e5241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a9d04f54343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e2a327a6b46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2f6347b3b4d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4A8D9F-563D-4ED9-9C8B-7F1706783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760" y="2072640"/>
            <a:ext cx="292608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B86E8B-E3F9-4648-906E-63107ACE77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8640" y="3017520"/>
            <a:ext cx="25603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764EA6-D1B3-4F3F-A30A-A1B7D4C407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760" y="2286000"/>
            <a:ext cx="292608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39531C-F802-4404-B322-E2925EAA6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" y="426720"/>
            <a:ext cx="324612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2B46C9-C1AF-47BF-858C-0C007652F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" y="1524000"/>
            <a:ext cx="324612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00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14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429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3434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257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172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086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001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2799A5-DEDB-46D0-8BBA-64DB4970C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" y="426720"/>
            <a:ext cx="324612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3A8EB5-891B-4145-8179-FB3D572806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" y="1524000"/>
            <a:ext cx="150876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00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14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429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3434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257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172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086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001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478F92C-8BFB-42BC-9463-103CA02141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943100" y="1524000"/>
            <a:ext cx="150876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00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14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429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3434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257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172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086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001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3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5E36CA-028D-447C-934A-8E6068612A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" y="426720"/>
            <a:ext cx="324612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FF3A2C-50D1-48A6-8F27-CA49F303A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" y="1524000"/>
            <a:ext cx="150876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00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14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429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3434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2578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1722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0866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00100" indent="-68580"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  <a:buChar char="•"/>
              <a:defRPr sz="6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448b4fd67045f1" /><Relationship Type="http://schemas.openxmlformats.org/officeDocument/2006/relationships/slideLayout" Target="/ppt/slideLayouts/slideLayout1.xml" Id="R4e376fe069f94b5d" /><Relationship Type="http://schemas.openxmlformats.org/officeDocument/2006/relationships/slideLayout" Target="/ppt/slideLayouts/slideLayout2.xml" Id="R8f6c7217b9314539" /><Relationship Type="http://schemas.openxmlformats.org/officeDocument/2006/relationships/slideLayout" Target="/ppt/slideLayouts/slideLayout3.xml" Id="R04979acfcf6f4096" /><Relationship Type="http://schemas.openxmlformats.org/officeDocument/2006/relationships/slideLayout" Target="/ppt/slideLayouts/slideLayout4.xml" Id="Rd64910cfd38b434c" /><Relationship Type="http://schemas.openxmlformats.org/officeDocument/2006/relationships/slideLayout" Target="/ppt/slideLayouts/slideLayout5.xml" Id="Re0b44e42878c487d" /><Relationship Type="http://schemas.openxmlformats.org/officeDocument/2006/relationships/slideLayout" Target="/ppt/slideLayouts/slideLayout6.xml" Id="R170d10b8030448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76fe069f94b5d"/>
    <p:sldLayoutId xmlns:r="http://schemas.openxmlformats.org/officeDocument/2006/relationships" id="2147483650" r:id="R8f6c7217b9314539"/>
    <p:sldLayoutId xmlns:r="http://schemas.openxmlformats.org/officeDocument/2006/relationships" id="2147483651" r:id="R04979acfcf6f4096"/>
    <p:sldLayoutId xmlns:r="http://schemas.openxmlformats.org/officeDocument/2006/relationships" id="2147483652" r:id="Rd64910cfd38b434c"/>
    <p:sldLayoutId xmlns:r="http://schemas.openxmlformats.org/officeDocument/2006/relationships" id="2147483653" r:id="Re0b44e42878c487d"/>
    <p:sldLayoutId xmlns:r="http://schemas.openxmlformats.org/officeDocument/2006/relationships" id="2147483654" r:id="R170d10b8030448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792d77fcf4047" /><Relationship Type="http://schemas.openxmlformats.org/officeDocument/2006/relationships/image" Target="/ppt/media/image.png" Id="R66771ff1841c45d3" /><Relationship Type="http://schemas.openxmlformats.org/officeDocument/2006/relationships/image" Target="/ppt/media/image2.png" Id="Rf2f5c62be9914977" /><Relationship Type="http://schemas.openxmlformats.org/officeDocument/2006/relationships/notesSlide" Target="/ppt/notesSlides/notesSlide1.xml" Id="Rb8cdd2dec09f4c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49a7b1bbb4a2f" /><Relationship Type="http://schemas.openxmlformats.org/officeDocument/2006/relationships/image" Target="/ppt/media/image3.png" Id="R3ca3fd9283024e9c" /><Relationship Type="http://schemas.openxmlformats.org/officeDocument/2006/relationships/image" Target="/ppt/media/image4.png" Id="Re838d40fdcf6495b" /><Relationship Type="http://schemas.openxmlformats.org/officeDocument/2006/relationships/notesSlide" Target="/ppt/notesSlides/notesSlide2.xml" Id="R328a850f9fa344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926C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Audience">
            <a:extLst xmlns:a="http://schemas.openxmlformats.org/drawingml/2006/main">
              <a:ext uri="{FF2B5EF4-FFF2-40B4-BE49-F238E27FC236}">
                <a16:creationId xmlns:a16="http://schemas.microsoft.com/office/drawing/2014/main" id="{D8E82EBA-231E-41DC-98C7-F37C701D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8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WHEN YOU ARE DRIVING</a:t>
            </a:r>
          </a:p>
        </p:txBody>
      </p:sp>
      <p:sp>
        <p:nvSpPr>
          <p:cNvPr id="2" name="Main action">
            <a:extLst xmlns:a="http://schemas.openxmlformats.org/drawingml/2006/main">
              <a:ext uri="{FF2B5EF4-FFF2-40B4-BE49-F238E27FC236}">
                <a16:creationId xmlns:a16="http://schemas.microsoft.com/office/drawing/2014/main" id="{32C23FA6-AF4F-4650-B0D4-F5D0DFAC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7200"/>
            <a:ext cx="33051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CHECK.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29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THEN WAIT.</a:t>
            </a:r>
          </a:p>
        </p:txBody>
      </p:sp>
      <p:sp>
        <p:nvSpPr>
          <p:cNvPr id="3" name="Scene background">
            <a:extLst xmlns:a="http://schemas.openxmlformats.org/drawingml/2006/main">
              <a:ext uri="{FF2B5EF4-FFF2-40B4-BE49-F238E27FC236}">
                <a16:creationId xmlns:a16="http://schemas.microsoft.com/office/drawing/2014/main" id="{0A37252F-EB90-4403-8E57-AD5378E0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71625"/>
            <a:ext cx="3657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25F"/>
          </a:solidFill>
          <a:ln xmlns:a="http://schemas.openxmlformats.org/drawingml/2006/main" w="0">
            <a:noFill/>
          </a:ln>
        </p:spPr>
      </p:sp>
      <p:sp>
        <p:nvSpPr>
          <p:cNvPr id="4" name="Road">
            <a:extLst xmlns:a="http://schemas.openxmlformats.org/drawingml/2006/main">
              <a:ext uri="{FF2B5EF4-FFF2-40B4-BE49-F238E27FC236}">
                <a16:creationId xmlns:a16="http://schemas.microsoft.com/office/drawing/2014/main" id="{10F46C0E-95CC-4B88-A1CF-ADC3BC8D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66875"/>
            <a:ext cx="29527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5074"/>
          </a:solidFill>
          <a:ln xmlns:a="http://schemas.openxmlformats.org/drawingml/2006/main" w="0">
            <a:noFill/>
          </a:ln>
        </p:spPr>
      </p:sp>
      <p:sp>
        <p:nvSpPr>
          <p:cNvPr id="5" name="Bike path">
            <a:extLst xmlns:a="http://schemas.openxmlformats.org/drawingml/2006/main">
              <a:ext uri="{FF2B5EF4-FFF2-40B4-BE49-F238E27FC236}">
                <a16:creationId xmlns:a16="http://schemas.microsoft.com/office/drawing/2014/main" id="{811E2603-BA48-4730-B140-2424E3F5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66875"/>
            <a:ext cx="3905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</a:ln>
        </p:spPr>
      </p:sp>
      <p:sp>
        <p:nvSpPr>
          <p:cNvPr id="6" name="Center marking 183">
            <a:extLst xmlns:a="http://schemas.openxmlformats.org/drawingml/2006/main">
              <a:ext uri="{FF2B5EF4-FFF2-40B4-BE49-F238E27FC236}">
                <a16:creationId xmlns:a16="http://schemas.microsoft.com/office/drawing/2014/main" id="{2A59561E-E99C-461A-8FC9-450624FE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Center marking 208">
            <a:extLst xmlns:a="http://schemas.openxmlformats.org/drawingml/2006/main">
              <a:ext uri="{FF2B5EF4-FFF2-40B4-BE49-F238E27FC236}">
                <a16:creationId xmlns:a16="http://schemas.microsoft.com/office/drawing/2014/main" id="{37D3A641-D603-49BC-9F83-E05761C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Center marking 233">
            <a:extLst xmlns:a="http://schemas.openxmlformats.org/drawingml/2006/main">
              <a:ext uri="{FF2B5EF4-FFF2-40B4-BE49-F238E27FC236}">
                <a16:creationId xmlns:a16="http://schemas.microsoft.com/office/drawing/2014/main" id="{53D4C7A8-FFB4-4D80-85A8-CA001090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19325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Center marking 258">
            <a:extLst xmlns:a="http://schemas.openxmlformats.org/drawingml/2006/main">
              <a:ext uri="{FF2B5EF4-FFF2-40B4-BE49-F238E27FC236}">
                <a16:creationId xmlns:a16="http://schemas.microsoft.com/office/drawing/2014/main" id="{558419DB-B64B-4DB1-928C-5AA4F873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Center marking 283">
            <a:extLst xmlns:a="http://schemas.openxmlformats.org/drawingml/2006/main">
              <a:ext uri="{FF2B5EF4-FFF2-40B4-BE49-F238E27FC236}">
                <a16:creationId xmlns:a16="http://schemas.microsoft.com/office/drawing/2014/main" id="{D0FE0F7D-B577-46B9-95DB-5647200F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95575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Center marking 308">
            <a:extLst xmlns:a="http://schemas.openxmlformats.org/drawingml/2006/main">
              <a:ext uri="{FF2B5EF4-FFF2-40B4-BE49-F238E27FC236}">
                <a16:creationId xmlns:a16="http://schemas.microsoft.com/office/drawing/2014/main" id="{796EB7FE-F681-47F5-8925-B9492C2D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33700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Center marking 333">
            <a:extLst xmlns:a="http://schemas.openxmlformats.org/drawingml/2006/main">
              <a:ext uri="{FF2B5EF4-FFF2-40B4-BE49-F238E27FC236}">
                <a16:creationId xmlns:a16="http://schemas.microsoft.com/office/drawing/2014/main" id="{C799415D-0067-4CEC-AF25-DB8651CB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71825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Center marking 358">
            <a:extLst xmlns:a="http://schemas.openxmlformats.org/drawingml/2006/main">
              <a:ext uri="{FF2B5EF4-FFF2-40B4-BE49-F238E27FC236}">
                <a16:creationId xmlns:a16="http://schemas.microsoft.com/office/drawing/2014/main" id="{D94A7237-0569-48A1-9978-B005DCB0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9950"/>
            <a:ext cx="285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Tree canopy left 191">
            <a:extLst xmlns:a="http://schemas.openxmlformats.org/drawingml/2006/main">
              <a:ext uri="{FF2B5EF4-FFF2-40B4-BE49-F238E27FC236}">
                <a16:creationId xmlns:a16="http://schemas.microsoft.com/office/drawing/2014/main" id="{43D8AA0F-2F8E-494B-8DA6-FF57CDEE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1819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15" name="Tree canopy right 191">
            <a:extLst xmlns:a="http://schemas.openxmlformats.org/drawingml/2006/main">
              <a:ext uri="{FF2B5EF4-FFF2-40B4-BE49-F238E27FC236}">
                <a16:creationId xmlns:a16="http://schemas.microsoft.com/office/drawing/2014/main" id="{AA70D287-724A-409F-BE81-60EF0098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192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16" name="Tree canopy left 231">
            <a:extLst xmlns:a="http://schemas.openxmlformats.org/drawingml/2006/main">
              <a:ext uri="{FF2B5EF4-FFF2-40B4-BE49-F238E27FC236}">
                <a16:creationId xmlns:a16="http://schemas.microsoft.com/office/drawing/2014/main" id="{8CEBABCB-8C64-47D0-A9CA-B7BFB334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2200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17" name="Tree canopy right 231">
            <a:extLst xmlns:a="http://schemas.openxmlformats.org/drawingml/2006/main">
              <a:ext uri="{FF2B5EF4-FFF2-40B4-BE49-F238E27FC236}">
                <a16:creationId xmlns:a16="http://schemas.microsoft.com/office/drawing/2014/main" id="{5B8C0C9C-3DEC-44B8-A76E-18C64C94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02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18" name="Tree canopy left 271">
            <a:extLst xmlns:a="http://schemas.openxmlformats.org/drawingml/2006/main">
              <a:ext uri="{FF2B5EF4-FFF2-40B4-BE49-F238E27FC236}">
                <a16:creationId xmlns:a16="http://schemas.microsoft.com/office/drawing/2014/main" id="{7C04ACB9-B00F-4525-9B16-31D896F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2581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19" name="Tree canopy right 271">
            <a:extLst xmlns:a="http://schemas.openxmlformats.org/drawingml/2006/main">
              <a:ext uri="{FF2B5EF4-FFF2-40B4-BE49-F238E27FC236}">
                <a16:creationId xmlns:a16="http://schemas.microsoft.com/office/drawing/2014/main" id="{3159F49B-6CF1-443A-B8D2-E9939183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12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20" name="Tree canopy left 311">
            <a:extLst xmlns:a="http://schemas.openxmlformats.org/drawingml/2006/main">
              <a:ext uri="{FF2B5EF4-FFF2-40B4-BE49-F238E27FC236}">
                <a16:creationId xmlns:a16="http://schemas.microsoft.com/office/drawing/2014/main" id="{AB15CC09-F49A-4FB9-A3BA-AA398CDE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21" name="Tree canopy right 311">
            <a:extLst xmlns:a="http://schemas.openxmlformats.org/drawingml/2006/main">
              <a:ext uri="{FF2B5EF4-FFF2-40B4-BE49-F238E27FC236}">
                <a16:creationId xmlns:a16="http://schemas.microsoft.com/office/drawing/2014/main" id="{C1EB29BB-7109-4781-9B7F-72B8CF5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622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22" name="Tree canopy left 351">
            <a:extLst xmlns:a="http://schemas.openxmlformats.org/drawingml/2006/main">
              <a:ext uri="{FF2B5EF4-FFF2-40B4-BE49-F238E27FC236}">
                <a16:creationId xmlns:a16="http://schemas.microsoft.com/office/drawing/2014/main" id="{27070748-3AD7-4F2B-9E2D-04EF611C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3343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23" name="Tree canopy right 351">
            <a:extLst xmlns:a="http://schemas.openxmlformats.org/drawingml/2006/main">
              <a:ext uri="{FF2B5EF4-FFF2-40B4-BE49-F238E27FC236}">
                <a16:creationId xmlns:a16="http://schemas.microsoft.com/office/drawing/2014/main" id="{7A68B3F0-89E7-402E-97DD-BE204D0A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43275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24" name="Waiting car body">
            <a:extLst xmlns:a="http://schemas.openxmlformats.org/drawingml/2006/main">
              <a:ext uri="{FF2B5EF4-FFF2-40B4-BE49-F238E27FC236}">
                <a16:creationId xmlns:a16="http://schemas.microsoft.com/office/drawing/2014/main" id="{7F487A0F-6A54-4F10-A38D-8465A254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67000"/>
            <a:ext cx="409575" cy="6286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0A"/>
          </a:solidFill>
          <a:ln xmlns:a="http://schemas.openxmlformats.org/drawingml/2006/main" w="0">
            <a:noFill/>
          </a:ln>
        </p:spPr>
      </p:sp>
      <p:sp>
        <p:nvSpPr>
          <p:cNvPr id="25" name="Car rear window">
            <a:extLst xmlns:a="http://schemas.openxmlformats.org/drawingml/2006/main">
              <a:ext uri="{FF2B5EF4-FFF2-40B4-BE49-F238E27FC236}">
                <a16:creationId xmlns:a16="http://schemas.microsoft.com/office/drawing/2014/main" id="{964AAC6A-3C44-40F3-9E5C-D4B5330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86100"/>
            <a:ext cx="257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26" name="Car front window">
            <a:extLst xmlns:a="http://schemas.openxmlformats.org/drawingml/2006/main">
              <a:ext uri="{FF2B5EF4-FFF2-40B4-BE49-F238E27FC236}">
                <a16:creationId xmlns:a16="http://schemas.microsoft.com/office/drawing/2014/main" id="{EB2CAC5D-53B1-4653-B131-73D4B07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62250"/>
            <a:ext cx="2571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27" name="Rider head">
            <a:extLst xmlns:a="http://schemas.openxmlformats.org/drawingml/2006/main">
              <a:ext uri="{FF2B5EF4-FFF2-40B4-BE49-F238E27FC236}">
                <a16:creationId xmlns:a16="http://schemas.microsoft.com/office/drawing/2014/main" id="{64BA046E-F602-41D4-93A2-0F066BA8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95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28" name="Bike front wheel">
            <a:extLst xmlns:a="http://schemas.openxmlformats.org/drawingml/2006/main">
              <a:ext uri="{FF2B5EF4-FFF2-40B4-BE49-F238E27FC236}">
                <a16:creationId xmlns:a16="http://schemas.microsoft.com/office/drawing/2014/main" id="{6171591A-9470-41B2-9615-F0C7A5C2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14525"/>
            <a:ext cx="4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29" name="Bike rear wheel">
            <a:extLst xmlns:a="http://schemas.openxmlformats.org/drawingml/2006/main">
              <a:ext uri="{FF2B5EF4-FFF2-40B4-BE49-F238E27FC236}">
                <a16:creationId xmlns:a16="http://schemas.microsoft.com/office/drawing/2014/main" id="{B93BE3DD-ED2E-489A-B237-0EA28360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66950"/>
            <a:ext cx="47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30" name="Bike frame">
            <a:extLst xmlns:a="http://schemas.openxmlformats.org/drawingml/2006/main">
              <a:ext uri="{FF2B5EF4-FFF2-40B4-BE49-F238E27FC236}">
                <a16:creationId xmlns:a16="http://schemas.microsoft.com/office/drawing/2014/main" id="{2DE7E986-7DFA-4BF6-850D-CA560D32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38350"/>
            <a:ext cx="47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31" name="Bike handlebar">
            <a:extLst xmlns:a="http://schemas.openxmlformats.org/drawingml/2006/main">
              <a:ext uri="{FF2B5EF4-FFF2-40B4-BE49-F238E27FC236}">
                <a16:creationId xmlns:a16="http://schemas.microsoft.com/office/drawing/2014/main" id="{14EAD355-B4B9-49C4-917D-F22A3671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057400"/>
            <a:ext cx="238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32" name="Intended turn vertical 242">
            <a:extLst xmlns:a="http://schemas.openxmlformats.org/drawingml/2006/main">
              <a:ext uri="{FF2B5EF4-FFF2-40B4-BE49-F238E27FC236}">
                <a16:creationId xmlns:a16="http://schemas.microsoft.com/office/drawing/2014/main" id="{6A0FC182-A64C-4D13-A8A4-5BD88F54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3050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33" name="Intended turn vertical 254">
            <a:extLst xmlns:a="http://schemas.openxmlformats.org/drawingml/2006/main">
              <a:ext uri="{FF2B5EF4-FFF2-40B4-BE49-F238E27FC236}">
                <a16:creationId xmlns:a16="http://schemas.microsoft.com/office/drawing/2014/main" id="{DBDF634E-37B8-4EC9-A104-7E3BDE83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193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34" name="Intended turn vertical 266">
            <a:extLst xmlns:a="http://schemas.openxmlformats.org/drawingml/2006/main">
              <a:ext uri="{FF2B5EF4-FFF2-40B4-BE49-F238E27FC236}">
                <a16:creationId xmlns:a16="http://schemas.microsoft.com/office/drawing/2014/main" id="{54D23486-A088-4BF5-A0AA-2512B502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5336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35" name="Intended turn vertical 278">
            <a:extLst xmlns:a="http://schemas.openxmlformats.org/drawingml/2006/main">
              <a:ext uri="{FF2B5EF4-FFF2-40B4-BE49-F238E27FC236}">
                <a16:creationId xmlns:a16="http://schemas.microsoft.com/office/drawing/2014/main" id="{F34F4D8F-7B3B-4B46-AD99-32A26320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47950"/>
            <a:ext cx="285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36" name="Intended turn crossing 231">
            <a:extLst xmlns:a="http://schemas.openxmlformats.org/drawingml/2006/main">
              <a:ext uri="{FF2B5EF4-FFF2-40B4-BE49-F238E27FC236}">
                <a16:creationId xmlns:a16="http://schemas.microsoft.com/office/drawing/2014/main" id="{E0BB212C-AACD-48D3-81EA-68AC8C58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37" name="Intended turn crossing 244">
            <a:extLst xmlns:a="http://schemas.openxmlformats.org/drawingml/2006/main">
              <a:ext uri="{FF2B5EF4-FFF2-40B4-BE49-F238E27FC236}">
                <a16:creationId xmlns:a16="http://schemas.microsoft.com/office/drawing/2014/main" id="{8B8BCB38-F37A-49ED-A77B-D10CE643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38" name="Intended turn crossing 257">
            <a:extLst xmlns:a="http://schemas.openxmlformats.org/drawingml/2006/main">
              <a:ext uri="{FF2B5EF4-FFF2-40B4-BE49-F238E27FC236}">
                <a16:creationId xmlns:a16="http://schemas.microsoft.com/office/drawing/2014/main" id="{5BCC9DB4-65B0-4C41-AFDC-AA69D96B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39" name="Intended turn crossing 270">
            <a:extLst xmlns:a="http://schemas.openxmlformats.org/drawingml/2006/main">
              <a:ext uri="{FF2B5EF4-FFF2-40B4-BE49-F238E27FC236}">
                <a16:creationId xmlns:a16="http://schemas.microsoft.com/office/drawing/2014/main" id="{D559CE5B-0FC6-444F-9555-0861B961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40" name="Intended turn crossing 283">
            <a:extLst xmlns:a="http://schemas.openxmlformats.org/drawingml/2006/main">
              <a:ext uri="{FF2B5EF4-FFF2-40B4-BE49-F238E27FC236}">
                <a16:creationId xmlns:a16="http://schemas.microsoft.com/office/drawing/2014/main" id="{2EBBBC59-B49F-4C31-B2BA-CB53409E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41" name="Intended turn crossing 296">
            <a:extLst xmlns:a="http://schemas.openxmlformats.org/drawingml/2006/main">
              <a:ext uri="{FF2B5EF4-FFF2-40B4-BE49-F238E27FC236}">
                <a16:creationId xmlns:a16="http://schemas.microsoft.com/office/drawing/2014/main" id="{00CD6FAD-F11E-4D73-B9F0-D4C96705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42" name="Intended turn crossing 309">
            <a:extLst xmlns:a="http://schemas.openxmlformats.org/drawingml/2006/main">
              <a:ext uri="{FF2B5EF4-FFF2-40B4-BE49-F238E27FC236}">
                <a16:creationId xmlns:a16="http://schemas.microsoft.com/office/drawing/2014/main" id="{2A9AA0EC-027B-4874-BF74-2A0D721A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43" name="Intended turn crossing 322">
            <a:extLst xmlns:a="http://schemas.openxmlformats.org/drawingml/2006/main">
              <a:ext uri="{FF2B5EF4-FFF2-40B4-BE49-F238E27FC236}">
                <a16:creationId xmlns:a16="http://schemas.microsoft.com/office/drawing/2014/main" id="{098E9A2F-A96F-487D-A487-C8B48CB7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05050"/>
            <a:ext cx="6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44" name="Intended turn arrow">
            <a:extLst xmlns:a="http://schemas.openxmlformats.org/drawingml/2006/main">
              <a:ext uri="{FF2B5EF4-FFF2-40B4-BE49-F238E27FC236}">
                <a16:creationId xmlns:a16="http://schemas.microsoft.com/office/drawing/2014/main" id="{2E71760D-E039-4AD1-9969-D3020CEC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57425"/>
            <a:ext cx="142875" cy="1238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45" name="Rider direction arrow">
            <a:extLst xmlns:a="http://schemas.openxmlformats.org/drawingml/2006/main">
              <a:ext uri="{FF2B5EF4-FFF2-40B4-BE49-F238E27FC236}">
                <a16:creationId xmlns:a16="http://schemas.microsoft.com/office/drawing/2014/main" id="{6A1B3909-5702-4FBF-A869-320E08C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95475"/>
            <a:ext cx="142875" cy="285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926CB"/>
          </a:solidFill>
          <a:ln xmlns:a="http://schemas.openxmlformats.org/drawingml/2006/main" w="0">
            <a:noFill/>
          </a:ln>
        </p:spPr>
      </p:sp>
      <p:sp>
        <p:nvSpPr>
          <p:cNvPr id="46" name="Rider label">
            <a:extLst xmlns:a="http://schemas.openxmlformats.org/drawingml/2006/main">
              <a:ext uri="{FF2B5EF4-FFF2-40B4-BE49-F238E27FC236}">
                <a16:creationId xmlns:a16="http://schemas.microsoft.com/office/drawing/2014/main" id="{64FB0105-B7E8-4B97-B0B3-90895818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430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pPr>
            <a:r>
              <a:rPr sz="675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rPr>
              <a:t>RIDER</a:t>
            </a:r>
          </a:p>
        </p:txBody>
      </p:sp>
      <p:sp>
        <p:nvSpPr>
          <p:cNvPr id="47" name="Wait label">
            <a:extLst xmlns:a="http://schemas.openxmlformats.org/drawingml/2006/main">
              <a:ext uri="{FF2B5EF4-FFF2-40B4-BE49-F238E27FC236}">
                <a16:creationId xmlns:a16="http://schemas.microsoft.com/office/drawing/2014/main" id="{82F389F5-5F4F-412B-B82D-ED9140DA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3432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WAIT</a:t>
            </a:r>
          </a:p>
        </p:txBody>
      </p:sp>
      <p:sp>
        <p:nvSpPr>
          <p:cNvPr id="48" name="Bike path label">
            <a:extLst xmlns:a="http://schemas.openxmlformats.org/drawingml/2006/main">
              <a:ext uri="{FF2B5EF4-FFF2-40B4-BE49-F238E27FC236}">
                <a16:creationId xmlns:a16="http://schemas.microsoft.com/office/drawing/2014/main" id="{CC2B19C2-96A5-47CF-BE93-DCC9E1A8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95625"/>
            <a:ext cx="38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rPr>
              <a:t>BIKE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35125F"/>
                </a:solidFill>
                <a:latin typeface="Space Grotesk"/>
                <a:ea typeface="Space Grotesk"/>
                <a:cs typeface="Space Grotesk"/>
              </a:rPr>
              <a:t>PATH</a:t>
            </a:r>
          </a:p>
        </p:txBody>
      </p:sp>
      <p:sp>
        <p:nvSpPr>
          <p:cNvPr id="49" name="Driver duty">
            <a:extLst xmlns:a="http://schemas.openxmlformats.org/drawingml/2006/main">
              <a:ext uri="{FF2B5EF4-FFF2-40B4-BE49-F238E27FC236}">
                <a16:creationId xmlns:a16="http://schemas.microsoft.com/office/drawing/2014/main" id="{8E02B281-D5E3-4258-915F-3F5DEE0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3781425"/>
            <a:ext cx="3286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Before turning across a rider’s path, check ahead, beside and behind. Wait until the rider has cleared.</a:t>
            </a:r>
          </a:p>
        </p:txBody>
      </p:sp>
      <p:sp>
        <p:nvSpPr>
          <p:cNvPr id="50" name="Local scene note">
            <a:extLst xmlns:a="http://schemas.openxmlformats.org/drawingml/2006/main">
              <a:ext uri="{FF2B5EF4-FFF2-40B4-BE49-F238E27FC236}">
                <a16:creationId xmlns:a16="http://schemas.microsoft.com/office/drawing/2014/main" id="{3FF7B637-D966-4A6A-8CF2-D1820B60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4629150"/>
            <a:ext cx="3286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750" b="0">
                <a:solidFill>
                  <a:srgbClr val="FFFF0A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0A"/>
                </a:solidFill>
                <a:latin typeface="Arial"/>
                <a:ea typeface="Arial"/>
                <a:cs typeface="Arial"/>
              </a:rPr>
              <a:t>Dashed pink: intended turn. Purple arrow: rider.</a:t>
            </a:r>
          </a:p>
        </p:txBody>
      </p:sp>
      <p:sp>
        <p:nvSpPr>
          <p:cNvPr id="51" name="Footer">
            <a:extLst xmlns:a="http://schemas.openxmlformats.org/drawingml/2006/main">
              <a:ext uri="{FF2B5EF4-FFF2-40B4-BE49-F238E27FC236}">
                <a16:creationId xmlns:a16="http://schemas.microsoft.com/office/drawing/2014/main" id="{BBC7A4DB-2617-4375-B614-28542E2B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67275"/>
            <a:ext cx="3657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25F"/>
          </a:solidFill>
          <a:ln xmlns:a="http://schemas.openxmlformats.org/drawingml/2006/main" w="0">
            <a:noFill/>
          </a:ln>
        </p:spPr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6C0ACB-0165-4C46-A296-9B374BB0D0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71ff1841c45d3"/>
          <a:stretch xmlns:a="http://schemas.openxmlformats.org/drawingml/2006/main"/>
        </p:blipFill>
        <p:spPr>
          <a:xfrm xmlns:a="http://schemas.openxmlformats.org/drawingml/2006/main">
            <a:off x="152400" y="49720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3" name="Website">
            <a:extLst xmlns:a="http://schemas.openxmlformats.org/drawingml/2006/main">
              <a:ext uri="{FF2B5EF4-FFF2-40B4-BE49-F238E27FC236}">
                <a16:creationId xmlns:a16="http://schemas.microsoft.com/office/drawing/2014/main" id="{B0A27C3A-F2F6-4D94-A6C7-7BF2985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3fp.org</a:t>
            </a:r>
          </a:p>
        </p:txBody>
      </p:sp>
      <p:sp>
        <p:nvSpPr>
          <p:cNvPr id="54" name="Groups and rides">
            <a:extLst xmlns:a="http://schemas.openxmlformats.org/drawingml/2006/main">
              <a:ext uri="{FF2B5EF4-FFF2-40B4-BE49-F238E27FC236}">
                <a16:creationId xmlns:a16="http://schemas.microsoft.com/office/drawing/2014/main" id="{A610848E-9D51-4189-A7E5-0CC4638F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29225"/>
            <a:ext cx="2276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groups and public rides.</a:t>
            </a:r>
          </a:p>
        </p:txBody>
      </p:sp>
      <p:sp>
        <p:nvSpPr>
          <p:cNvPr id="55" name="QR quiet zone">
            <a:extLst xmlns:a="http://schemas.openxmlformats.org/drawingml/2006/main">
              <a:ext uri="{FF2B5EF4-FFF2-40B4-BE49-F238E27FC236}">
                <a16:creationId xmlns:a16="http://schemas.microsoft.com/office/drawing/2014/main" id="{6B1F9C55-63B3-4017-B7FA-F121C79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3000"/>
            <a:ext cx="447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6405E3-F380-45BE-AED0-90911EEB62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5c62be9914977"/>
          <a:stretch xmlns:a="http://schemas.openxmlformats.org/drawingml/2006/main"/>
        </p:blipFill>
        <p:spPr>
          <a:xfrm xmlns:a="http://schemas.openxmlformats.org/drawingml/2006/main">
            <a:off x="3124200" y="4991100"/>
            <a:ext cx="371475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90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3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 field">
            <a:extLst xmlns:a="http://schemas.openxmlformats.org/drawingml/2006/main">
              <a:ext uri="{FF2B5EF4-FFF2-40B4-BE49-F238E27FC236}">
                <a16:creationId xmlns:a16="http://schemas.microsoft.com/office/drawing/2014/main" id="{E3D49AE7-16E3-41F4-B2FA-D39558E7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25F"/>
          </a:solidFill>
          <a:ln xmlns:a="http://schemas.openxmlformats.org/drawingml/2006/main" w="0">
            <a:noFill/>
          </a:ln>
        </p:spPr>
      </p:sp>
      <p:sp>
        <p:nvSpPr>
          <p:cNvPr id="2" name="Practice label">
            <a:extLst xmlns:a="http://schemas.openxmlformats.org/drawingml/2006/main">
              <a:ext uri="{FF2B5EF4-FFF2-40B4-BE49-F238E27FC236}">
                <a16:creationId xmlns:a16="http://schemas.microsoft.com/office/drawing/2014/main" id="{A322253F-58F8-4843-8EC9-18BCAD8B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1925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75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FOR A DRIVING LESSON OR FLEET BRIEFING</a:t>
            </a:r>
          </a:p>
        </p:txBody>
      </p:sp>
      <p:sp>
        <p:nvSpPr>
          <p:cNvPr id="3" name="Reverse title">
            <a:extLst xmlns:a="http://schemas.openxmlformats.org/drawingml/2006/main">
              <a:ext uri="{FF2B5EF4-FFF2-40B4-BE49-F238E27FC236}">
                <a16:creationId xmlns:a16="http://schemas.microsoft.com/office/drawing/2014/main" id="{086DABD8-8AAA-4B5F-8A7A-15DA28F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09575"/>
            <a:ext cx="3276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Explain the turn.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Rehearse the check.</a:t>
            </a:r>
          </a:p>
        </p:txBody>
      </p:sp>
      <p:sp>
        <p:nvSpPr>
          <p:cNvPr id="4" name="Number 1">
            <a:extLst xmlns:a="http://schemas.openxmlformats.org/drawingml/2006/main">
              <a:ext uri="{FF2B5EF4-FFF2-40B4-BE49-F238E27FC236}">
                <a16:creationId xmlns:a16="http://schemas.microsoft.com/office/drawing/2014/main" id="{E50C2CAD-EE6B-43B2-80CB-2A3D6B72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4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5" name="Number text 1">
            <a:extLst xmlns:a="http://schemas.openxmlformats.org/drawingml/2006/main">
              <a:ext uri="{FF2B5EF4-FFF2-40B4-BE49-F238E27FC236}">
                <a16:creationId xmlns:a16="http://schemas.microsoft.com/office/drawing/2014/main" id="{CDF2B2D8-62DF-408C-89A6-EDD8C823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27635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1</a:t>
            </a:r>
          </a:p>
        </p:txBody>
      </p:sp>
      <p:sp>
        <p:nvSpPr>
          <p:cNvPr id="6" name="Step title 1">
            <a:extLst xmlns:a="http://schemas.openxmlformats.org/drawingml/2006/main">
              <a:ext uri="{FF2B5EF4-FFF2-40B4-BE49-F238E27FC236}">
                <a16:creationId xmlns:a16="http://schemas.microsoft.com/office/drawing/2014/main" id="{8D44F897-6198-443B-8843-EE50218F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47775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rPr>
              <a:t>SHOW THE CROSSING</a:t>
            </a:r>
          </a:p>
        </p:txBody>
      </p:sp>
      <p:sp>
        <p:nvSpPr>
          <p:cNvPr id="7" name="Step text 1">
            <a:extLst xmlns:a="http://schemas.openxmlformats.org/drawingml/2006/main">
              <a:ext uri="{FF2B5EF4-FFF2-40B4-BE49-F238E27FC236}">
                <a16:creationId xmlns:a16="http://schemas.microsoft.com/office/drawing/2014/main" id="{D940FEC0-9D11-4DF6-A3F8-5D0C53F9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2867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5125F"/>
                </a:solidFill>
                <a:latin typeface="Arial"/>
                <a:ea typeface="Arial"/>
                <a:cs typeface="Arial"/>
              </a:rPr>
              <a:t>Use a local junction scene. Point out where the turn crosses a rider’s path.</a:t>
            </a:r>
          </a:p>
        </p:txBody>
      </p:sp>
      <p:sp>
        <p:nvSpPr>
          <p:cNvPr id="8" name="Number 2">
            <a:extLst xmlns:a="http://schemas.openxmlformats.org/drawingml/2006/main">
              <a:ext uri="{FF2B5EF4-FFF2-40B4-BE49-F238E27FC236}">
                <a16:creationId xmlns:a16="http://schemas.microsoft.com/office/drawing/2014/main" id="{D13A838F-ACDF-40F5-BE3C-ABD85735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9" name="Number text 2">
            <a:extLst xmlns:a="http://schemas.openxmlformats.org/drawingml/2006/main">
              <a:ext uri="{FF2B5EF4-FFF2-40B4-BE49-F238E27FC236}">
                <a16:creationId xmlns:a16="http://schemas.microsoft.com/office/drawing/2014/main" id="{BFE22B68-6BD6-4005-BE39-CA44C977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333625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2</a:t>
            </a:r>
          </a:p>
        </p:txBody>
      </p:sp>
      <p:sp>
        <p:nvSpPr>
          <p:cNvPr id="10" name="Step title 2">
            <a:extLst xmlns:a="http://schemas.openxmlformats.org/drawingml/2006/main">
              <a:ext uri="{FF2B5EF4-FFF2-40B4-BE49-F238E27FC236}">
                <a16:creationId xmlns:a16="http://schemas.microsoft.com/office/drawing/2014/main" id="{6C2BCEBD-33D6-497D-BE6F-DC83D7E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rPr>
              <a:t>USE THE ACTUAL VEHICLE</a:t>
            </a:r>
          </a:p>
        </p:txBody>
      </p:sp>
      <p:sp>
        <p:nvSpPr>
          <p:cNvPr id="11" name="Step text 2">
            <a:extLst xmlns:a="http://schemas.openxmlformats.org/drawingml/2006/main">
              <a:ext uri="{FF2B5EF4-FFF2-40B4-BE49-F238E27FC236}">
                <a16:creationId xmlns:a16="http://schemas.microsoft.com/office/drawing/2014/main" id="{CE42405A-5068-410C-B726-19799252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2867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5125F"/>
                </a:solidFill>
                <a:latin typeface="Arial"/>
                <a:ea typeface="Arial"/>
                <a:cs typeface="Arial"/>
              </a:rPr>
              <a:t>With a qualified trainer, review direct vision, mirrors and visibility equipment. Keep the vehicle secured and parked.</a:t>
            </a:r>
          </a:p>
        </p:txBody>
      </p:sp>
      <p:sp>
        <p:nvSpPr>
          <p:cNvPr id="12" name="Number 3">
            <a:extLst xmlns:a="http://schemas.openxmlformats.org/drawingml/2006/main">
              <a:ext uri="{FF2B5EF4-FFF2-40B4-BE49-F238E27FC236}">
                <a16:creationId xmlns:a16="http://schemas.microsoft.com/office/drawing/2014/main" id="{7DF9C974-A3B4-46F3-973E-94B44A74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62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180"/>
          </a:solidFill>
          <a:ln xmlns:a="http://schemas.openxmlformats.org/drawingml/2006/main" w="0">
            <a:noFill/>
          </a:ln>
        </p:spPr>
      </p:sp>
      <p:sp>
        <p:nvSpPr>
          <p:cNvPr id="13" name="Number text 3">
            <a:extLst xmlns:a="http://schemas.openxmlformats.org/drawingml/2006/main">
              <a:ext uri="{FF2B5EF4-FFF2-40B4-BE49-F238E27FC236}">
                <a16:creationId xmlns:a16="http://schemas.microsoft.com/office/drawing/2014/main" id="{3A2D949D-57B4-47A0-A76C-5CD3B8FA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390900"/>
            <a:ext cx="19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3</a:t>
            </a:r>
          </a:p>
        </p:txBody>
      </p:sp>
      <p:sp>
        <p:nvSpPr>
          <p:cNvPr id="14" name="Step title 3">
            <a:extLst xmlns:a="http://schemas.openxmlformats.org/drawingml/2006/main">
              <a:ext uri="{FF2B5EF4-FFF2-40B4-BE49-F238E27FC236}">
                <a16:creationId xmlns:a16="http://schemas.microsoft.com/office/drawing/2014/main" id="{6CE42899-69B4-49FD-97A6-10B593D6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287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pPr>
            <a:r>
              <a:rPr sz="1050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rPr>
              <a:t>SAY WHEN TO WAIT</a:t>
            </a:r>
          </a:p>
        </p:txBody>
      </p:sp>
      <p:sp>
        <p:nvSpPr>
          <p:cNvPr id="15" name="Step text 3">
            <a:extLst xmlns:a="http://schemas.openxmlformats.org/drawingml/2006/main">
              <a:ext uri="{FF2B5EF4-FFF2-40B4-BE49-F238E27FC236}">
                <a16:creationId xmlns:a16="http://schemas.microsoft.com/office/drawing/2014/main" id="{94FD3332-A493-47D4-925D-AEF6C19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28670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125" b="0">
                <a:solidFill>
                  <a:srgbClr val="3512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5125F"/>
                </a:solidFill>
                <a:latin typeface="Arial"/>
                <a:ea typeface="Arial"/>
                <a:cs typeface="Arial"/>
              </a:rPr>
              <a:t>Ask: “Who waits? What must be clear before the turn?” Ask for the answer in the driver’s own words.</a:t>
            </a:r>
          </a:p>
        </p:txBody>
      </p:sp>
      <p:sp>
        <p:nvSpPr>
          <p:cNvPr id="16" name="Follow up">
            <a:extLst xmlns:a="http://schemas.openxmlformats.org/drawingml/2006/main">
              <a:ext uri="{FF2B5EF4-FFF2-40B4-BE49-F238E27FC236}">
                <a16:creationId xmlns:a16="http://schemas.microsoft.com/office/drawing/2014/main" id="{482200C6-761F-44E4-8933-0A4EF91F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14850"/>
            <a:ext cx="3276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defRPr>
            </a:pPr>
            <a:r>
              <a:rPr sz="975" b="1">
                <a:solidFill>
                  <a:srgbClr val="7926CB"/>
                </a:solidFill>
                <a:latin typeface="Space Grotesk"/>
                <a:ea typeface="Space Grotesk"/>
                <a:cs typeface="Space Grotesk"/>
              </a:rPr>
              <a:t>Follow up later with the same road scene.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D5F5F9F9-6732-44C6-B745-FE314FC9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67275"/>
            <a:ext cx="3657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25F"/>
          </a:solidFill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B71FD-9207-4141-8EBB-2B30AE3BD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3fd9283024e9c"/>
          <a:stretch xmlns:a="http://schemas.openxmlformats.org/drawingml/2006/main"/>
        </p:blipFill>
        <p:spPr>
          <a:xfrm xmlns:a="http://schemas.openxmlformats.org/drawingml/2006/main">
            <a:off x="152400" y="49720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9" name="Website">
            <a:extLst xmlns:a="http://schemas.openxmlformats.org/drawingml/2006/main">
              <a:ext uri="{FF2B5EF4-FFF2-40B4-BE49-F238E27FC236}">
                <a16:creationId xmlns:a16="http://schemas.microsoft.com/office/drawing/2014/main" id="{A83A8C98-B305-41E4-8100-BBC8763E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defPPr>
            <a:lvl1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1pPr>
            <a:lvl2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2pPr>
            <a:lvl3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3pPr>
            <a:lvl4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4pPr>
            <a:lvl5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5pPr>
            <a:lvl6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6pPr>
            <a:lvl7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7pPr>
            <a:lvl8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8pPr>
            <a:lvl9pPr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0A"/>
                </a:solidFill>
                <a:latin typeface="Space Grotesk"/>
                <a:ea typeface="Space Grotesk"/>
                <a:cs typeface="Space Grotesk"/>
              </a:rPr>
              <a:t>3fp.org</a:t>
            </a:r>
          </a:p>
        </p:txBody>
      </p:sp>
      <p:sp>
        <p:nvSpPr>
          <p:cNvPr id="20" name="Groups and rides">
            <a:extLst xmlns:a="http://schemas.openxmlformats.org/drawingml/2006/main">
              <a:ext uri="{FF2B5EF4-FFF2-40B4-BE49-F238E27FC236}">
                <a16:creationId xmlns:a16="http://schemas.microsoft.com/office/drawing/2014/main" id="{5925E86D-C0B4-42B6-ACF3-C9969B4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29225"/>
            <a:ext cx="2276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4000"/>
              </a:lnSpc>
              <a:buNone/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 groups and public rides.</a:t>
            </a:r>
          </a:p>
        </p:txBody>
      </p:sp>
      <p:sp>
        <p:nvSpPr>
          <p:cNvPr id="21" name="QR quiet zone">
            <a:extLst xmlns:a="http://schemas.openxmlformats.org/drawingml/2006/main">
              <a:ext uri="{FF2B5EF4-FFF2-40B4-BE49-F238E27FC236}">
                <a16:creationId xmlns:a16="http://schemas.microsoft.com/office/drawing/2014/main" id="{440F050F-76AD-4213-94A5-30E68AAF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3000"/>
            <a:ext cx="447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F6B0B-07CF-4B2E-80E5-568EC3ED02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8d40fdcf6495b"/>
          <a:stretch xmlns:a="http://schemas.openxmlformats.org/drawingml/2006/main"/>
        </p:blipFill>
        <p:spPr>
          <a:xfrm xmlns:a="http://schemas.openxmlformats.org/drawingml/2006/main">
            <a:off x="3124200" y="4991100"/>
            <a:ext cx="371475" cy="371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91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2026-10-29T14:33:29.5360000Z</dcterms:created>
  <dcterms:modified xsi:type="dcterms:W3CDTF">2026-10-29T14:33:29.5360000Z</dcterms:modified>
</coreProperties>
</file>