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c13196b4474a88" /><Relationship Type="http://schemas.openxmlformats.org/officeDocument/2006/relationships/extended-properties" Target="/docProps/app.xml" Id="R37c7842c679b4b7e" /><Relationship Type="http://schemas.openxmlformats.org/officeDocument/2006/relationships/officeDocument" Target="/ppt/presentation.xml" Id="R2ccb3492b66249ec" /></Relationships>
</file>

<file path=ppt/presentation.xml><?xml version="1.0" encoding="utf-8"?>
<p:presentation xmlns:p="http://schemas.openxmlformats.org/presentationml/2006/main">
  <p:sldMasterIdLst>
    <p:sldMasterId xmlns:r="http://schemas.openxmlformats.org/officeDocument/2006/relationships" id="2147483648" r:id="R05d8c5e5e8804004"/>
  </p:sldMasterIdLst>
  <p:notesMasterIdLst>
    <p:notesMasterId xmlns:r="http://schemas.openxmlformats.org/officeDocument/2006/relationships" r:id="Rdb689f7a7abd43c9"/>
  </p:notesMasterIdLst>
  <p:sldIdLst>
    <p:sldId xmlns:r="http://schemas.openxmlformats.org/officeDocument/2006/relationships" id="256" r:id="Re6e62f28c4f244dd"/>
    <p:sldId xmlns:r="http://schemas.openxmlformats.org/officeDocument/2006/relationships" id="257" r:id="Rf30a071ff87c46b6"/>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bae450e0a45c1" /><Relationship Type="http://schemas.openxmlformats.org/officeDocument/2006/relationships/slideMaster" Target="/ppt/slideMasters/slideMaster1.xml" Id="R05d8c5e5e8804004" /><Relationship Type="http://schemas.openxmlformats.org/officeDocument/2006/relationships/notesMaster" Target="/ppt/notesMasters/notesMaster1.xml" Id="Rdb689f7a7abd43c9" /><Relationship Type="http://schemas.openxmlformats.org/officeDocument/2006/relationships/presProps" Target="/ppt/presProps.xml" Id="R230d8cbbce124741" /><Relationship Type="http://schemas.openxmlformats.org/officeDocument/2006/relationships/tableStyles" Target="/ppt/tableStyles.xml" Id="R1f7279f8ea524adb" /><Relationship Type="http://schemas.openxmlformats.org/officeDocument/2006/relationships/slide" Target="/ppt/slides/slide1.xml" Id="Re6e62f28c4f244dd" /><Relationship Type="http://schemas.openxmlformats.org/officeDocument/2006/relationships/slide" Target="/ppt/slides/slide2.xml" Id="Rf30a071ff87c46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eac6dc55c047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873c1772b345b1" /><Relationship Type="http://schemas.openxmlformats.org/officeDocument/2006/relationships/notesMaster" Target="/ppt/notesMasters/notesMaster1.xml" Id="R235b0ef709124a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4736ea5ec74da2" /><Relationship Type="http://schemas.openxmlformats.org/officeDocument/2006/relationships/notesMaster" Target="/ppt/notesMasters/notesMaster1.xml" Id="R34dbf1578c954e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 the Ride</a:t>
            </a:r>
          </a:p>
          <a:p xmlns:a="http://schemas.openxmlformats.org/drawingml/2006/main">
            <a:r>
              <a:t>Lighting aids can improve detection in some experiments, and equipment-plus-education programs have increased observed use; results do not isolate printed messaging. A 2025 light trial had substantial reporting and participation limitations and did not establish an injury benefit. Lights do not guarantee a rider will be seen or prevent a crash.</a:t>
            </a:r>
          </a:p>
          <a:p xmlns:a="http://schemas.openxmlformats.org/drawingml/2006/main">
            <a:r>
              <a:t>This exact copy and artwork have not been tested with the intended audience. Treat the emotional framing as an audience hypothesis, not an effectiveness claim. Intended direction: Warmth and useful preparation, without detection or safe-arrival guarantees.</a:t>
            </a:r>
          </a:p>
          <a:p xmlns:a="http://schemas.openxmlformats.org/drawingml/2006/main">
            <a:r>
              <a:t>Advice about lighting does not promise that a driver will see or yield to a rider, or that a rider will arrive safely. Advertise fitting, supplies, or financial support only after a partner confirms availability.</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Copy and layout held constant. Social export is 1080 x 1350 RGB PNG; not a printer file.</a:t>
            </a:r>
          </a:p>
          <a:p xmlns:a="http://schemas.openxmlformats.org/drawingml/2006/main">
            <a:r>
              <a:t>Sources:</a:t>
            </a:r>
          </a:p>
          <a:p xmlns:a="http://schemas.openxmlformats.org/drawingml/2006/main">
            <a:r>
              <a:t>https://www.cochrane.org/evidence/CD003438_increasing-pedestrian-and-cyclist-visibility-prevent-deaths-and-injuries</a:t>
            </a:r>
          </a:p>
          <a:p xmlns:a="http://schemas.openxmlformats.org/drawingml/2006/main">
            <a:r>
              <a:t>https://doi.org/10.55329/qwqe8132</a:t>
            </a:r>
          </a:p>
          <a:p xmlns:a="http://schemas.openxmlformats.org/drawingml/2006/main">
            <a:r>
              <a:t>https://pmc.ncbi.nlm.nih.gov/articles/PMC2593412/</a:t>
            </a:r>
          </a:p>
          <a:p xmlns:a="http://schemas.openxmlformats.org/drawingml/2006/main">
            <a:r>
              <a:t>https://www.nhtsa.gov/book/countermeasures-that-work/bicycle-safety/countermeasures</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 the Ride</a:t>
            </a:r>
          </a:p>
          <a:p xmlns:a="http://schemas.openxmlformats.org/drawingml/2006/main">
            <a:r>
              <a:t>Lighting aids can improve detection in some experiments, and equipment-plus-education programs have increased observed use; results do not isolate printed messaging. A 2025 light trial had substantial reporting and participation limitations and did not establish an injury benefit. Lights do not guarantee a rider will be seen or prevent a crash.</a:t>
            </a:r>
          </a:p>
          <a:p xmlns:a="http://schemas.openxmlformats.org/drawingml/2006/main">
            <a:r>
              <a:t>This exact copy and artwork have not been tested with the intended audience. Treat the emotional framing as an audience hypothesis, not an effectiveness claim. Intended direction: Warmth and useful preparation, without detection or safe-arrival guarantees.</a:t>
            </a:r>
          </a:p>
          <a:p xmlns:a="http://schemas.openxmlformats.org/drawingml/2006/main">
            <a:r>
              <a:t>Advice about lighting does not promise that a driver will see or yield to a rider, or that a rider will arrive safely. Advertise fitting, supplies, or financial support only after a partner confirms availability.</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Copy and layout held constant. Social export is 1080 x 1350 RGB PNG; not a printer file.</a:t>
            </a:r>
          </a:p>
          <a:p xmlns:a="http://schemas.openxmlformats.org/drawingml/2006/main">
            <a:r>
              <a:t>Sources:</a:t>
            </a:r>
          </a:p>
          <a:p xmlns:a="http://schemas.openxmlformats.org/drawingml/2006/main">
            <a:r>
              <a:t>https://www.cochrane.org/evidence/CD003438_increasing-pedestrian-and-cyclist-visibility-prevent-deaths-and-injuries</a:t>
            </a:r>
          </a:p>
          <a:p xmlns:a="http://schemas.openxmlformats.org/drawingml/2006/main">
            <a:r>
              <a:t>https://doi.org/10.55329/qwqe8132</a:t>
            </a:r>
          </a:p>
          <a:p xmlns:a="http://schemas.openxmlformats.org/drawingml/2006/main">
            <a:r>
              <a:t>https://pmc.ncbi.nlm.nih.gov/articles/PMC2593412/</a:t>
            </a:r>
          </a:p>
          <a:p xmlns:a="http://schemas.openxmlformats.org/drawingml/2006/main">
            <a:r>
              <a:t>https://www.nhtsa.gov/book/countermeasures-that-work/bicycle-safety/countermeasures</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2ee80e28af4d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52781bb28840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65a0f9558f4f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ecd603f15243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da7139e9834d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2e8047bda94c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5254D2-F333-417E-B9FF-93ADADC183E4}"/>
              </a:ext>
            </a:extLst>
          </p:cNvPr>
          <p:cNvSpPr>
            <a:spLocks xmlns:a="http://schemas.openxmlformats.org/drawingml/2006/main" noGrp="1"/>
          </p:cNvSpPr>
          <p:nvPr>
            <p:ph type="title" idx="0"/>
          </p:nvPr>
        </p:nvSpPr>
        <p:spPr>
          <a:xfrm xmlns:a="http://schemas.openxmlformats.org/drawingml/2006/main">
            <a:off x="1028700" y="4857750"/>
            <a:ext cx="82296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50" b="1">
                <a:solidFill>
                  <a:schemeClr val="tx1"/>
                </a:solidFill>
                <a:latin typeface="+mj-lt"/>
                <a:ea typeface="+mj-lt"/>
                <a:cs typeface="+mj-lt"/>
              </a:defRPr>
            </a:defPPr>
            <a:lvl1pPr marL="0" indent="0" algn="ctr">
              <a:lnSpc>
                <a:spcPct val="110000"/>
              </a:lnSpc>
              <a:spcBef>
                <a:spcPts val="0"/>
              </a:spcBef>
              <a:spcAft>
                <a:spcPts val="0"/>
              </a:spcAft>
              <a:buNone/>
              <a:defRPr sz="4050" b="1">
                <a:solidFill>
                  <a:schemeClr val="tx1"/>
                </a:solidFill>
                <a:latin typeface="+mj-lt"/>
                <a:ea typeface="+mj-lt"/>
                <a:cs typeface="+mj-lt"/>
              </a:defRPr>
            </a:lvl1pPr>
            <a:lvl2pPr marL="0" indent="0" algn="ctr">
              <a:lnSpc>
                <a:spcPct val="110000"/>
              </a:lnSpc>
              <a:spcBef>
                <a:spcPts val="0"/>
              </a:spcBef>
              <a:spcAft>
                <a:spcPts val="0"/>
              </a:spcAft>
              <a:buNone/>
              <a:defRPr sz="4050" b="1">
                <a:solidFill>
                  <a:schemeClr val="tx1"/>
                </a:solidFill>
                <a:latin typeface="+mj-lt"/>
                <a:ea typeface="+mj-lt"/>
                <a:cs typeface="+mj-lt"/>
              </a:defRPr>
            </a:lvl2pPr>
            <a:lvl3pPr marL="0" indent="0" algn="ctr">
              <a:lnSpc>
                <a:spcPct val="110000"/>
              </a:lnSpc>
              <a:spcBef>
                <a:spcPts val="0"/>
              </a:spcBef>
              <a:spcAft>
                <a:spcPts val="0"/>
              </a:spcAft>
              <a:buNone/>
              <a:defRPr sz="4050" b="1">
                <a:solidFill>
                  <a:schemeClr val="tx1"/>
                </a:solidFill>
                <a:latin typeface="+mj-lt"/>
                <a:ea typeface="+mj-lt"/>
                <a:cs typeface="+mj-lt"/>
              </a:defRPr>
            </a:lvl3pPr>
            <a:lvl4pPr marL="0" indent="0" algn="ctr">
              <a:lnSpc>
                <a:spcPct val="110000"/>
              </a:lnSpc>
              <a:spcBef>
                <a:spcPts val="0"/>
              </a:spcBef>
              <a:spcAft>
                <a:spcPts val="0"/>
              </a:spcAft>
              <a:buNone/>
              <a:defRPr sz="4050" b="1">
                <a:solidFill>
                  <a:schemeClr val="tx1"/>
                </a:solidFill>
                <a:latin typeface="+mj-lt"/>
                <a:ea typeface="+mj-lt"/>
                <a:cs typeface="+mj-lt"/>
              </a:defRPr>
            </a:lvl4pPr>
            <a:lvl5pPr marL="0" indent="0" algn="ctr">
              <a:lnSpc>
                <a:spcPct val="110000"/>
              </a:lnSpc>
              <a:spcBef>
                <a:spcPts val="0"/>
              </a:spcBef>
              <a:spcAft>
                <a:spcPts val="0"/>
              </a:spcAft>
              <a:buNone/>
              <a:defRPr sz="4050" b="1">
                <a:solidFill>
                  <a:schemeClr val="tx1"/>
                </a:solidFill>
                <a:latin typeface="+mj-lt"/>
                <a:ea typeface="+mj-lt"/>
                <a:cs typeface="+mj-lt"/>
              </a:defRPr>
            </a:lvl5pPr>
            <a:lvl6pPr marL="0" indent="0" algn="ctr">
              <a:lnSpc>
                <a:spcPct val="110000"/>
              </a:lnSpc>
              <a:spcBef>
                <a:spcPts val="0"/>
              </a:spcBef>
              <a:spcAft>
                <a:spcPts val="0"/>
              </a:spcAft>
              <a:buNone/>
              <a:defRPr sz="4050" b="1">
                <a:solidFill>
                  <a:schemeClr val="tx1"/>
                </a:solidFill>
                <a:latin typeface="+mj-lt"/>
                <a:ea typeface="+mj-lt"/>
                <a:cs typeface="+mj-lt"/>
              </a:defRPr>
            </a:lvl6pPr>
            <a:lvl7pPr marL="0" indent="0" algn="ctr">
              <a:lnSpc>
                <a:spcPct val="110000"/>
              </a:lnSpc>
              <a:spcBef>
                <a:spcPts val="0"/>
              </a:spcBef>
              <a:spcAft>
                <a:spcPts val="0"/>
              </a:spcAft>
              <a:buNone/>
              <a:defRPr sz="4050" b="1">
                <a:solidFill>
                  <a:schemeClr val="tx1"/>
                </a:solidFill>
                <a:latin typeface="+mj-lt"/>
                <a:ea typeface="+mj-lt"/>
                <a:cs typeface="+mj-lt"/>
              </a:defRPr>
            </a:lvl7pPr>
            <a:lvl8pPr marL="0" indent="0" algn="ctr">
              <a:lnSpc>
                <a:spcPct val="110000"/>
              </a:lnSpc>
              <a:spcBef>
                <a:spcPts val="0"/>
              </a:spcBef>
              <a:spcAft>
                <a:spcPts val="0"/>
              </a:spcAft>
              <a:buNone/>
              <a:defRPr sz="4050" b="1">
                <a:solidFill>
                  <a:schemeClr val="tx1"/>
                </a:solidFill>
                <a:latin typeface="+mj-lt"/>
                <a:ea typeface="+mj-lt"/>
                <a:cs typeface="+mj-lt"/>
              </a:defRPr>
            </a:lvl8pPr>
            <a:lvl9pPr marL="0" indent="0" algn="ctr">
              <a:lnSpc>
                <a:spcPct val="110000"/>
              </a:lnSpc>
              <a:spcBef>
                <a:spcPts val="0"/>
              </a:spcBef>
              <a:spcAft>
                <a:spcPts val="0"/>
              </a:spcAft>
              <a:buNone/>
              <a:defRPr sz="40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572693-646B-47D4-B11F-B300E05F3AE0}"/>
              </a:ext>
            </a:extLst>
          </p:cNvPr>
          <p:cNvSpPr>
            <a:spLocks xmlns:a="http://schemas.openxmlformats.org/drawingml/2006/main" noGrp="1"/>
          </p:cNvSpPr>
          <p:nvPr>
            <p:ph type="subTitle" idx="1"/>
          </p:nvPr>
        </p:nvSpPr>
        <p:spPr>
          <a:xfrm xmlns:a="http://schemas.openxmlformats.org/drawingml/2006/main">
            <a:off x="1543050" y="7072313"/>
            <a:ext cx="72009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72" b="0">
                <a:solidFill>
                  <a:schemeClr val="tx1"/>
                </a:solidFill>
                <a:latin typeface="+mn-lt"/>
                <a:ea typeface="+mn-lt"/>
                <a:cs typeface="+mn-lt"/>
              </a:defRPr>
            </a:defPPr>
            <a:lvl1pPr marL="0" indent="0" algn="ctr">
              <a:lnSpc>
                <a:spcPct val="110000"/>
              </a:lnSpc>
              <a:spcBef>
                <a:spcPts val="0"/>
              </a:spcBef>
              <a:spcAft>
                <a:spcPts val="0"/>
              </a:spcAft>
              <a:buNone/>
              <a:defRPr sz="1772" b="0">
                <a:solidFill>
                  <a:schemeClr val="tx1"/>
                </a:solidFill>
                <a:latin typeface="+mn-lt"/>
                <a:ea typeface="+mn-lt"/>
                <a:cs typeface="+mn-lt"/>
              </a:defRPr>
            </a:lvl1pPr>
            <a:lvl2pPr marL="0" indent="0" algn="ctr">
              <a:lnSpc>
                <a:spcPct val="110000"/>
              </a:lnSpc>
              <a:spcBef>
                <a:spcPts val="0"/>
              </a:spcBef>
              <a:spcAft>
                <a:spcPts val="0"/>
              </a:spcAft>
              <a:buNone/>
              <a:defRPr sz="1772" b="0">
                <a:solidFill>
                  <a:schemeClr val="tx1"/>
                </a:solidFill>
                <a:latin typeface="+mn-lt"/>
                <a:ea typeface="+mn-lt"/>
                <a:cs typeface="+mn-lt"/>
              </a:defRPr>
            </a:lvl2pPr>
            <a:lvl3pPr marL="0" indent="0" algn="ctr">
              <a:lnSpc>
                <a:spcPct val="110000"/>
              </a:lnSpc>
              <a:spcBef>
                <a:spcPts val="0"/>
              </a:spcBef>
              <a:spcAft>
                <a:spcPts val="0"/>
              </a:spcAft>
              <a:buNone/>
              <a:defRPr sz="1772" b="0">
                <a:solidFill>
                  <a:schemeClr val="tx1"/>
                </a:solidFill>
                <a:latin typeface="+mn-lt"/>
                <a:ea typeface="+mn-lt"/>
                <a:cs typeface="+mn-lt"/>
              </a:defRPr>
            </a:lvl3pPr>
            <a:lvl4pPr marL="0" indent="0" algn="ctr">
              <a:lnSpc>
                <a:spcPct val="110000"/>
              </a:lnSpc>
              <a:spcBef>
                <a:spcPts val="0"/>
              </a:spcBef>
              <a:spcAft>
                <a:spcPts val="0"/>
              </a:spcAft>
              <a:buNone/>
              <a:defRPr sz="1772" b="0">
                <a:solidFill>
                  <a:schemeClr val="tx1"/>
                </a:solidFill>
                <a:latin typeface="+mn-lt"/>
                <a:ea typeface="+mn-lt"/>
                <a:cs typeface="+mn-lt"/>
              </a:defRPr>
            </a:lvl4pPr>
            <a:lvl5pPr marL="0" indent="0" algn="ctr">
              <a:lnSpc>
                <a:spcPct val="110000"/>
              </a:lnSpc>
              <a:spcBef>
                <a:spcPts val="0"/>
              </a:spcBef>
              <a:spcAft>
                <a:spcPts val="0"/>
              </a:spcAft>
              <a:buNone/>
              <a:defRPr sz="1772" b="0">
                <a:solidFill>
                  <a:schemeClr val="tx1"/>
                </a:solidFill>
                <a:latin typeface="+mn-lt"/>
                <a:ea typeface="+mn-lt"/>
                <a:cs typeface="+mn-lt"/>
              </a:defRPr>
            </a:lvl5pPr>
            <a:lvl6pPr marL="0" indent="0" algn="ctr">
              <a:lnSpc>
                <a:spcPct val="110000"/>
              </a:lnSpc>
              <a:spcBef>
                <a:spcPts val="0"/>
              </a:spcBef>
              <a:spcAft>
                <a:spcPts val="0"/>
              </a:spcAft>
              <a:buNone/>
              <a:defRPr sz="1772" b="0">
                <a:solidFill>
                  <a:schemeClr val="tx1"/>
                </a:solidFill>
                <a:latin typeface="+mn-lt"/>
                <a:ea typeface="+mn-lt"/>
                <a:cs typeface="+mn-lt"/>
              </a:defRPr>
            </a:lvl6pPr>
            <a:lvl7pPr marL="0" indent="0" algn="ctr">
              <a:lnSpc>
                <a:spcPct val="110000"/>
              </a:lnSpc>
              <a:spcBef>
                <a:spcPts val="0"/>
              </a:spcBef>
              <a:spcAft>
                <a:spcPts val="0"/>
              </a:spcAft>
              <a:buNone/>
              <a:defRPr sz="1772" b="0">
                <a:solidFill>
                  <a:schemeClr val="tx1"/>
                </a:solidFill>
                <a:latin typeface="+mn-lt"/>
                <a:ea typeface="+mn-lt"/>
                <a:cs typeface="+mn-lt"/>
              </a:defRPr>
            </a:lvl7pPr>
            <a:lvl8pPr marL="0" indent="0" algn="ctr">
              <a:lnSpc>
                <a:spcPct val="110000"/>
              </a:lnSpc>
              <a:spcBef>
                <a:spcPts val="0"/>
              </a:spcBef>
              <a:spcAft>
                <a:spcPts val="0"/>
              </a:spcAft>
              <a:buNone/>
              <a:defRPr sz="1772" b="0">
                <a:solidFill>
                  <a:schemeClr val="tx1"/>
                </a:solidFill>
                <a:latin typeface="+mn-lt"/>
                <a:ea typeface="+mn-lt"/>
                <a:cs typeface="+mn-lt"/>
              </a:defRPr>
            </a:lvl8pPr>
            <a:lvl9pPr marL="0" indent="0" algn="ctr">
              <a:lnSpc>
                <a:spcPct val="110000"/>
              </a:lnSpc>
              <a:spcBef>
                <a:spcPts val="0"/>
              </a:spcBef>
              <a:spcAft>
                <a:spcPts val="0"/>
              </a:spcAft>
              <a:buNone/>
              <a:defRPr sz="177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BFBFF2-B20E-45FA-8F38-5D3C8F117294}"/>
              </a:ext>
            </a:extLst>
          </p:cNvPr>
          <p:cNvSpPr>
            <a:spLocks xmlns:a="http://schemas.openxmlformats.org/drawingml/2006/main" noGrp="1"/>
          </p:cNvSpPr>
          <p:nvPr>
            <p:ph type="title" idx="0"/>
          </p:nvPr>
        </p:nvSpPr>
        <p:spPr>
          <a:xfrm xmlns:a="http://schemas.openxmlformats.org/drawingml/2006/main">
            <a:off x="1028700" y="5357813"/>
            <a:ext cx="82296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544" b="1">
                <a:solidFill>
                  <a:schemeClr val="tx1"/>
                </a:solidFill>
                <a:latin typeface="+mj-lt"/>
                <a:ea typeface="+mj-lt"/>
                <a:cs typeface="+mj-lt"/>
              </a:defRPr>
            </a:defPPr>
            <a:lvl1pPr marL="0" indent="0" algn="ctr">
              <a:lnSpc>
                <a:spcPct val="110000"/>
              </a:lnSpc>
              <a:spcBef>
                <a:spcPts val="0"/>
              </a:spcBef>
              <a:spcAft>
                <a:spcPts val="0"/>
              </a:spcAft>
              <a:buNone/>
              <a:defRPr sz="3544" b="1">
                <a:solidFill>
                  <a:schemeClr val="tx1"/>
                </a:solidFill>
                <a:latin typeface="+mj-lt"/>
                <a:ea typeface="+mj-lt"/>
                <a:cs typeface="+mj-lt"/>
              </a:defRPr>
            </a:lvl1pPr>
            <a:lvl2pPr marL="0" indent="0" algn="ctr">
              <a:lnSpc>
                <a:spcPct val="110000"/>
              </a:lnSpc>
              <a:spcBef>
                <a:spcPts val="0"/>
              </a:spcBef>
              <a:spcAft>
                <a:spcPts val="0"/>
              </a:spcAft>
              <a:buNone/>
              <a:defRPr sz="3544" b="1">
                <a:solidFill>
                  <a:schemeClr val="tx1"/>
                </a:solidFill>
                <a:latin typeface="+mj-lt"/>
                <a:ea typeface="+mj-lt"/>
                <a:cs typeface="+mj-lt"/>
              </a:defRPr>
            </a:lvl2pPr>
            <a:lvl3pPr marL="0" indent="0" algn="ctr">
              <a:lnSpc>
                <a:spcPct val="110000"/>
              </a:lnSpc>
              <a:spcBef>
                <a:spcPts val="0"/>
              </a:spcBef>
              <a:spcAft>
                <a:spcPts val="0"/>
              </a:spcAft>
              <a:buNone/>
              <a:defRPr sz="3544" b="1">
                <a:solidFill>
                  <a:schemeClr val="tx1"/>
                </a:solidFill>
                <a:latin typeface="+mj-lt"/>
                <a:ea typeface="+mj-lt"/>
                <a:cs typeface="+mj-lt"/>
              </a:defRPr>
            </a:lvl3pPr>
            <a:lvl4pPr marL="0" indent="0" algn="ctr">
              <a:lnSpc>
                <a:spcPct val="110000"/>
              </a:lnSpc>
              <a:spcBef>
                <a:spcPts val="0"/>
              </a:spcBef>
              <a:spcAft>
                <a:spcPts val="0"/>
              </a:spcAft>
              <a:buNone/>
              <a:defRPr sz="3544" b="1">
                <a:solidFill>
                  <a:schemeClr val="tx1"/>
                </a:solidFill>
                <a:latin typeface="+mj-lt"/>
                <a:ea typeface="+mj-lt"/>
                <a:cs typeface="+mj-lt"/>
              </a:defRPr>
            </a:lvl4pPr>
            <a:lvl5pPr marL="0" indent="0" algn="ctr">
              <a:lnSpc>
                <a:spcPct val="110000"/>
              </a:lnSpc>
              <a:spcBef>
                <a:spcPts val="0"/>
              </a:spcBef>
              <a:spcAft>
                <a:spcPts val="0"/>
              </a:spcAft>
              <a:buNone/>
              <a:defRPr sz="3544" b="1">
                <a:solidFill>
                  <a:schemeClr val="tx1"/>
                </a:solidFill>
                <a:latin typeface="+mj-lt"/>
                <a:ea typeface="+mj-lt"/>
                <a:cs typeface="+mj-lt"/>
              </a:defRPr>
            </a:lvl5pPr>
            <a:lvl6pPr marL="0" indent="0" algn="ctr">
              <a:lnSpc>
                <a:spcPct val="110000"/>
              </a:lnSpc>
              <a:spcBef>
                <a:spcPts val="0"/>
              </a:spcBef>
              <a:spcAft>
                <a:spcPts val="0"/>
              </a:spcAft>
              <a:buNone/>
              <a:defRPr sz="3544" b="1">
                <a:solidFill>
                  <a:schemeClr val="tx1"/>
                </a:solidFill>
                <a:latin typeface="+mj-lt"/>
                <a:ea typeface="+mj-lt"/>
                <a:cs typeface="+mj-lt"/>
              </a:defRPr>
            </a:lvl6pPr>
            <a:lvl7pPr marL="0" indent="0" algn="ctr">
              <a:lnSpc>
                <a:spcPct val="110000"/>
              </a:lnSpc>
              <a:spcBef>
                <a:spcPts val="0"/>
              </a:spcBef>
              <a:spcAft>
                <a:spcPts val="0"/>
              </a:spcAft>
              <a:buNone/>
              <a:defRPr sz="3544" b="1">
                <a:solidFill>
                  <a:schemeClr val="tx1"/>
                </a:solidFill>
                <a:latin typeface="+mj-lt"/>
                <a:ea typeface="+mj-lt"/>
                <a:cs typeface="+mj-lt"/>
              </a:defRPr>
            </a:lvl7pPr>
            <a:lvl8pPr marL="0" indent="0" algn="ctr">
              <a:lnSpc>
                <a:spcPct val="110000"/>
              </a:lnSpc>
              <a:spcBef>
                <a:spcPts val="0"/>
              </a:spcBef>
              <a:spcAft>
                <a:spcPts val="0"/>
              </a:spcAft>
              <a:buNone/>
              <a:defRPr sz="3544" b="1">
                <a:solidFill>
                  <a:schemeClr val="tx1"/>
                </a:solidFill>
                <a:latin typeface="+mj-lt"/>
                <a:ea typeface="+mj-lt"/>
                <a:cs typeface="+mj-lt"/>
              </a:defRPr>
            </a:lvl8pPr>
            <a:lvl9pPr marL="0" indent="0" algn="ctr">
              <a:lnSpc>
                <a:spcPct val="110000"/>
              </a:lnSpc>
              <a:spcBef>
                <a:spcPts val="0"/>
              </a:spcBef>
              <a:spcAft>
                <a:spcPts val="0"/>
              </a:spcAft>
              <a:buNone/>
              <a:defRPr sz="35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2BD6B6-E8D9-47B0-B2AE-19A07AC76638}"/>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4FE2A6-1A01-4BDC-8234-1A43DE83F301}"/>
              </a:ext>
            </a:extLst>
          </p:cNvPr>
          <p:cNvSpPr>
            <a:spLocks xmlns:a="http://schemas.openxmlformats.org/drawingml/2006/main" noGrp="1"/>
          </p:cNvSpPr>
          <p:nvPr>
            <p:ph type="body" idx="1"/>
          </p:nvPr>
        </p:nvSpPr>
        <p:spPr>
          <a:xfrm xmlns:a="http://schemas.openxmlformats.org/drawingml/2006/main">
            <a:off x="578644" y="3571875"/>
            <a:ext cx="9129713"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62DAB0-0878-49A4-91C2-69C0F407F401}"/>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6E450F-91E1-4529-B3E2-8323166C9E18}"/>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3BEBB4-39B9-4C0C-AA25-B6D304B29449}"/>
              </a:ext>
            </a:extLst>
          </p:cNvPr>
          <p:cNvSpPr>
            <a:spLocks xmlns:a="http://schemas.openxmlformats.org/drawingml/2006/main" noGrp="1"/>
          </p:cNvSpPr>
          <p:nvPr>
            <p:ph type="body" idx="2"/>
          </p:nvPr>
        </p:nvSpPr>
        <p:spPr>
          <a:xfrm xmlns:a="http://schemas.openxmlformats.org/drawingml/2006/main">
            <a:off x="5464969"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49465C-2C93-499C-9FD0-83285C1E6D45}"/>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ED1513-3542-4004-8C91-BBBE3C7A8CDE}"/>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79254f07dc43ea" /><Relationship Type="http://schemas.openxmlformats.org/officeDocument/2006/relationships/slideLayout" Target="/ppt/slideLayouts/slideLayout1.xml" Id="Ra1348c8cc3774b5c" /><Relationship Type="http://schemas.openxmlformats.org/officeDocument/2006/relationships/slideLayout" Target="/ppt/slideLayouts/slideLayout2.xml" Id="R03523d3d93564561" /><Relationship Type="http://schemas.openxmlformats.org/officeDocument/2006/relationships/slideLayout" Target="/ppt/slideLayouts/slideLayout3.xml" Id="R2ad92dbb30944617" /><Relationship Type="http://schemas.openxmlformats.org/officeDocument/2006/relationships/slideLayout" Target="/ppt/slideLayouts/slideLayout4.xml" Id="Rf976f5316caa4426" /><Relationship Type="http://schemas.openxmlformats.org/officeDocument/2006/relationships/slideLayout" Target="/ppt/slideLayouts/slideLayout5.xml" Id="R71abc37cbb1c4ccb" /><Relationship Type="http://schemas.openxmlformats.org/officeDocument/2006/relationships/slideLayout" Target="/ppt/slideLayouts/slideLayout6.xml" Id="R481ea2faabe347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348c8cc3774b5c"/>
    <p:sldLayoutId xmlns:r="http://schemas.openxmlformats.org/officeDocument/2006/relationships" id="2147483650" r:id="R03523d3d93564561"/>
    <p:sldLayoutId xmlns:r="http://schemas.openxmlformats.org/officeDocument/2006/relationships" id="2147483651" r:id="R2ad92dbb30944617"/>
    <p:sldLayoutId xmlns:r="http://schemas.openxmlformats.org/officeDocument/2006/relationships" id="2147483652" r:id="Rf976f5316caa4426"/>
    <p:sldLayoutId xmlns:r="http://schemas.openxmlformats.org/officeDocument/2006/relationships" id="2147483653" r:id="R71abc37cbb1c4ccb"/>
    <p:sldLayoutId xmlns:r="http://schemas.openxmlformats.org/officeDocument/2006/relationships" id="2147483654" r:id="R481ea2faabe347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360cc58c7e407f" /><Relationship Type="http://schemas.openxmlformats.org/officeDocument/2006/relationships/image" Target="/ppt/media/image.png" Id="R0531c775ffcb4a41" /><Relationship Type="http://schemas.openxmlformats.org/officeDocument/2006/relationships/image" Target="/ppt/media/image2.png" Id="R751d992e62a943fa" /><Relationship Type="http://schemas.openxmlformats.org/officeDocument/2006/relationships/notesSlide" Target="/ppt/notesSlides/notesSlide1.xml" Id="R423aed5b88f849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faccc7caec45a1" /><Relationship Type="http://schemas.openxmlformats.org/officeDocument/2006/relationships/image" Target="/ppt/media/image3.png" Id="R8c7c34bd7b7f425f" /><Relationship Type="http://schemas.openxmlformats.org/officeDocument/2006/relationships/image" Target="/ppt/media/image4.png" Id="Rd014fd7dc0014b1f" /><Relationship Type="http://schemas.openxmlformats.org/officeDocument/2006/relationships/notesSlide" Target="/ppt/notesSlides/notesSlide2.xml" Id="R8c9d83298585400b" /></Relationships>
</file>

<file path=ppt/slides/slide1.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0AD0D13-2988-44DF-B9C0-E592F9E7EDDC}"/>
              </a:ext>
            </a:extLst>
          </p:cNvPr>
          <p:cNvPicPr>
            <a:picLocks xmlns:a="http://schemas.openxmlformats.org/drawingml/2006/main" noChangeAspect="1"/>
          </p:cNvPicPr>
          <p:nvPr/>
        </p:nvPicPr>
        <p:blipFill>
          <a:blip xmlns:r="http://schemas.openxmlformats.org/officeDocument/2006/relationships" xmlns:a="http://schemas.openxmlformats.org/drawingml/2006/main" r:embed="R0531c775ffcb4a41"/>
          <a:srcRect xmlns:a="http://schemas.openxmlformats.org/drawingml/2006/main" l="0" t="16655" r="0" b="16655"/>
          <a:stretch xmlns:a="http://schemas.openxmlformats.org/drawingml/2006/main">
            <a:fillRect l="0" t="0" r="0" b="0"/>
          </a:stretch>
        </p:blipFill>
        <p:spPr>
          <a:xfrm xmlns:a="http://schemas.openxmlformats.org/drawingml/2006/main">
            <a:off x="0" y="0"/>
            <a:ext cx="10287000" cy="8572500"/>
          </a:xfrm>
          <a:prstGeom xmlns:a="http://schemas.openxmlformats.org/drawingml/2006/main" prst="rect">
            <a:avLst/>
          </a:prstGeom>
        </p:spPr>
      </p:pic>
      <p:sp>
        <p:nvSpPr>
          <p:cNvPr id="2" name="Social message ground">
            <a:extLst xmlns:a="http://schemas.openxmlformats.org/drawingml/2006/main">
              <a:ext uri="{FF2B5EF4-FFF2-40B4-BE49-F238E27FC236}">
                <a16:creationId xmlns:a16="http://schemas.microsoft.com/office/drawing/2014/main" id="{EA6A069B-F8A9-4853-AD5D-3A1A4413A196}"/>
              </a:ext>
            </a:extLst>
          </p:cNvPr>
          <p:cNvSpPr>
            <a:spLocks xmlns:a="http://schemas.openxmlformats.org/drawingml/2006/main" noGrp="1"/>
          </p:cNvSpPr>
          <p:nvPr/>
        </p:nvSpPr>
        <p:spPr>
          <a:xfrm xmlns:a="http://schemas.openxmlformats.org/drawingml/2006/main">
            <a:off x="0" y="8058150"/>
            <a:ext cx="10287000" cy="318135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Social central message">
            <a:extLst xmlns:a="http://schemas.openxmlformats.org/drawingml/2006/main">
              <a:ext uri="{FF2B5EF4-FFF2-40B4-BE49-F238E27FC236}">
                <a16:creationId xmlns:a16="http://schemas.microsoft.com/office/drawing/2014/main" id="{72E8318B-F465-4D5A-9453-9EC6CE2EB952}"/>
              </a:ext>
            </a:extLst>
          </p:cNvPr>
          <p:cNvSpPr>
            <a:spLocks xmlns:a="http://schemas.openxmlformats.org/drawingml/2006/main" noGrp="1"/>
          </p:cNvSpPr>
          <p:nvPr/>
        </p:nvSpPr>
        <p:spPr>
          <a:xfrm xmlns:a="http://schemas.openxmlformats.org/drawingml/2006/main">
            <a:off x="466725" y="8362950"/>
            <a:ext cx="93535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Before the ride home,</a:t>
            </a:r>
          </a:p>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check your lights.</a:t>
            </a:r>
          </a:p>
        </p:txBody>
      </p:sp>
      <p:sp>
        <p:nvSpPr>
          <p:cNvPr id="4" name="Social action">
            <a:extLst xmlns:a="http://schemas.openxmlformats.org/drawingml/2006/main">
              <a:ext uri="{FF2B5EF4-FFF2-40B4-BE49-F238E27FC236}">
                <a16:creationId xmlns:a16="http://schemas.microsoft.com/office/drawing/2014/main" id="{6BE5130A-898D-443C-B374-81D24B27C42B}"/>
              </a:ext>
            </a:extLst>
          </p:cNvPr>
          <p:cNvSpPr>
            <a:spLocks xmlns:a="http://schemas.openxmlformats.org/drawingml/2006/main" noGrp="1"/>
          </p:cNvSpPr>
          <p:nvPr/>
        </p:nvSpPr>
        <p:spPr>
          <a:xfrm xmlns:a="http://schemas.openxmlformats.org/drawingml/2006/main">
            <a:off x="485775" y="10172700"/>
            <a:ext cx="9315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20" b="1">
                <a:solidFill>
                  <a:srgbClr val="FFFF0A"/>
                </a:solidFill>
                <a:latin typeface="Arial"/>
                <a:ea typeface="Arial"/>
                <a:cs typeface="Arial"/>
              </a:defRPr>
            </a:defPPr>
            <a:lvl1pPr>
              <a:defRPr sz="1920" b="1">
                <a:solidFill>
                  <a:srgbClr val="FFFF0A"/>
                </a:solidFill>
                <a:latin typeface="Arial"/>
                <a:ea typeface="Arial"/>
                <a:cs typeface="Arial"/>
              </a:defRPr>
            </a:lvl1pPr>
            <a:lvl2pPr>
              <a:defRPr sz="1920" b="1">
                <a:solidFill>
                  <a:srgbClr val="FFFF0A"/>
                </a:solidFill>
                <a:latin typeface="Arial"/>
                <a:ea typeface="Arial"/>
                <a:cs typeface="Arial"/>
              </a:defRPr>
            </a:lvl2pPr>
            <a:lvl3pPr>
              <a:defRPr sz="1920" b="1">
                <a:solidFill>
                  <a:srgbClr val="FFFF0A"/>
                </a:solidFill>
                <a:latin typeface="Arial"/>
                <a:ea typeface="Arial"/>
                <a:cs typeface="Arial"/>
              </a:defRPr>
            </a:lvl3pPr>
            <a:lvl4pPr>
              <a:defRPr sz="1920" b="1">
                <a:solidFill>
                  <a:srgbClr val="FFFF0A"/>
                </a:solidFill>
                <a:latin typeface="Arial"/>
                <a:ea typeface="Arial"/>
                <a:cs typeface="Arial"/>
              </a:defRPr>
            </a:lvl4pPr>
            <a:lvl5pPr>
              <a:defRPr sz="1920" b="1">
                <a:solidFill>
                  <a:srgbClr val="FFFF0A"/>
                </a:solidFill>
                <a:latin typeface="Arial"/>
                <a:ea typeface="Arial"/>
                <a:cs typeface="Arial"/>
              </a:defRPr>
            </a:lvl5pPr>
            <a:lvl6pPr>
              <a:defRPr sz="1920" b="1">
                <a:solidFill>
                  <a:srgbClr val="FFFF0A"/>
                </a:solidFill>
                <a:latin typeface="Arial"/>
                <a:ea typeface="Arial"/>
                <a:cs typeface="Arial"/>
              </a:defRPr>
            </a:lvl6pPr>
            <a:lvl7pPr>
              <a:defRPr sz="1920" b="1">
                <a:solidFill>
                  <a:srgbClr val="FFFF0A"/>
                </a:solidFill>
                <a:latin typeface="Arial"/>
                <a:ea typeface="Arial"/>
                <a:cs typeface="Arial"/>
              </a:defRPr>
            </a:lvl7pPr>
            <a:lvl8pPr>
              <a:defRPr sz="1920" b="1">
                <a:solidFill>
                  <a:srgbClr val="FFFF0A"/>
                </a:solidFill>
                <a:latin typeface="Arial"/>
                <a:ea typeface="Arial"/>
                <a:cs typeface="Arial"/>
              </a:defRPr>
            </a:lvl8pPr>
            <a:lvl9pPr>
              <a:defRPr sz="1920" b="1">
                <a:solidFill>
                  <a:srgbClr val="FFFF0A"/>
                </a:solidFill>
                <a:latin typeface="Arial"/>
                <a:ea typeface="Arial"/>
                <a:cs typeface="Arial"/>
              </a:defRPr>
            </a:lvl9pPr>
          </a:lstStyle>
          <a:p xmlns:a="http://schemas.openxmlformats.org/drawingml/2006/main">
            <a:pPr>
              <a:lnSpc>
                <a:spcPct val="98000"/>
              </a:lnSpc>
              <a:buNone/>
              <a:defRPr sz="1920" b="1">
                <a:solidFill>
                  <a:srgbClr val="FFFF0A"/>
                </a:solidFill>
                <a:latin typeface="Arial"/>
                <a:ea typeface="Arial"/>
                <a:cs typeface="Arial"/>
              </a:defRPr>
            </a:pPr>
            <a:r>
              <a:rPr sz="1920" b="1">
                <a:solidFill>
                  <a:srgbClr val="FFFF0A"/>
                </a:solidFill>
                <a:latin typeface="Arial"/>
                <a:ea typeface="Arial"/>
                <a:cs typeface="Arial"/>
              </a:rPr>
              <a:t>Secure your lights. Check the power. Switch both on. Aim the front light without glare. Ask a bike shop about fitting help. Find groups and rides at 3fp.org.</a:t>
            </a:r>
          </a:p>
        </p:txBody>
      </p:sp>
      <p:sp>
        <p:nvSpPr>
          <p:cNvPr id="5" name="Brand footer">
            <a:extLst xmlns:a="http://schemas.openxmlformats.org/drawingml/2006/main">
              <a:ext uri="{FF2B5EF4-FFF2-40B4-BE49-F238E27FC236}">
                <a16:creationId xmlns:a16="http://schemas.microsoft.com/office/drawing/2014/main" id="{2F20C79B-3734-4DBE-8913-34D275ABF8CE}"/>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22B52C77-89E6-4ED0-9AD4-63E3EAFE8613}"/>
              </a:ext>
            </a:extLst>
          </p:cNvPr>
          <p:cNvPicPr>
            <a:picLocks xmlns:a="http://schemas.openxmlformats.org/drawingml/2006/main" noChangeAspect="1"/>
          </p:cNvPicPr>
          <p:nvPr/>
        </p:nvPicPr>
        <p:blipFill>
          <a:blip xmlns:r="http://schemas.openxmlformats.org/officeDocument/2006/relationships" xmlns:a="http://schemas.openxmlformats.org/drawingml/2006/main" r:embed="R751d992e62a943fa"/>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3AF7D4C1-087D-4C92-B036-C3FC7D54C98F}"/>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19FE56E3-86CC-4CC0-AAB9-1EE9AD124656}"/>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1372126419"/>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2328774-DAF6-4411-932A-073B49738A2D}"/>
              </a:ext>
            </a:extLst>
          </p:cNvPr>
          <p:cNvPicPr>
            <a:picLocks xmlns:a="http://schemas.openxmlformats.org/drawingml/2006/main" noChangeAspect="1"/>
          </p:cNvPicPr>
          <p:nvPr/>
        </p:nvPicPr>
        <p:blipFill>
          <a:blip xmlns:r="http://schemas.openxmlformats.org/officeDocument/2006/relationships" xmlns:a="http://schemas.openxmlformats.org/drawingml/2006/main" r:embed="R8c7c34bd7b7f425f"/>
          <a:srcRect xmlns:a="http://schemas.openxmlformats.org/drawingml/2006/main" l="0" t="16655" r="0" b="16655"/>
          <a:stretch xmlns:a="http://schemas.openxmlformats.org/drawingml/2006/main">
            <a:fillRect l="0" t="0" r="0" b="0"/>
          </a:stretch>
        </p:blipFill>
        <p:spPr>
          <a:xfrm xmlns:a="http://schemas.openxmlformats.org/drawingml/2006/main">
            <a:off x="0" y="0"/>
            <a:ext cx="10287000" cy="8572500"/>
          </a:xfrm>
          <a:prstGeom xmlns:a="http://schemas.openxmlformats.org/drawingml/2006/main" prst="rect">
            <a:avLst/>
          </a:prstGeom>
        </p:spPr>
      </p:pic>
      <p:sp>
        <p:nvSpPr>
          <p:cNvPr id="2" name="Social message ground">
            <a:extLst xmlns:a="http://schemas.openxmlformats.org/drawingml/2006/main">
              <a:ext uri="{FF2B5EF4-FFF2-40B4-BE49-F238E27FC236}">
                <a16:creationId xmlns:a16="http://schemas.microsoft.com/office/drawing/2014/main" id="{E364B100-6F8A-4CC0-8EF6-B705E7D69EC1}"/>
              </a:ext>
            </a:extLst>
          </p:cNvPr>
          <p:cNvSpPr>
            <a:spLocks xmlns:a="http://schemas.openxmlformats.org/drawingml/2006/main" noGrp="1"/>
          </p:cNvSpPr>
          <p:nvPr/>
        </p:nvSpPr>
        <p:spPr>
          <a:xfrm xmlns:a="http://schemas.openxmlformats.org/drawingml/2006/main">
            <a:off x="0" y="8058150"/>
            <a:ext cx="10287000" cy="318135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Social central message">
            <a:extLst xmlns:a="http://schemas.openxmlformats.org/drawingml/2006/main">
              <a:ext uri="{FF2B5EF4-FFF2-40B4-BE49-F238E27FC236}">
                <a16:creationId xmlns:a16="http://schemas.microsoft.com/office/drawing/2014/main" id="{49EB4E26-05A5-4EFA-8D30-FB1FC16AA625}"/>
              </a:ext>
            </a:extLst>
          </p:cNvPr>
          <p:cNvSpPr>
            <a:spLocks xmlns:a="http://schemas.openxmlformats.org/drawingml/2006/main" noGrp="1"/>
          </p:cNvSpPr>
          <p:nvPr/>
        </p:nvSpPr>
        <p:spPr>
          <a:xfrm xmlns:a="http://schemas.openxmlformats.org/drawingml/2006/main">
            <a:off x="466725" y="8362950"/>
            <a:ext cx="93535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Before the ride home,</a:t>
            </a:r>
          </a:p>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check your lights.</a:t>
            </a:r>
          </a:p>
        </p:txBody>
      </p:sp>
      <p:sp>
        <p:nvSpPr>
          <p:cNvPr id="4" name="Social action">
            <a:extLst xmlns:a="http://schemas.openxmlformats.org/drawingml/2006/main">
              <a:ext uri="{FF2B5EF4-FFF2-40B4-BE49-F238E27FC236}">
                <a16:creationId xmlns:a16="http://schemas.microsoft.com/office/drawing/2014/main" id="{C1A98CAC-1B48-4444-94C7-5D15373C26CD}"/>
              </a:ext>
            </a:extLst>
          </p:cNvPr>
          <p:cNvSpPr>
            <a:spLocks xmlns:a="http://schemas.openxmlformats.org/drawingml/2006/main" noGrp="1"/>
          </p:cNvSpPr>
          <p:nvPr/>
        </p:nvSpPr>
        <p:spPr>
          <a:xfrm xmlns:a="http://schemas.openxmlformats.org/drawingml/2006/main">
            <a:off x="485775" y="10172700"/>
            <a:ext cx="9315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20" b="1">
                <a:solidFill>
                  <a:srgbClr val="FFFF0A"/>
                </a:solidFill>
                <a:latin typeface="Arial"/>
                <a:ea typeface="Arial"/>
                <a:cs typeface="Arial"/>
              </a:defRPr>
            </a:defPPr>
            <a:lvl1pPr>
              <a:defRPr sz="1920" b="1">
                <a:solidFill>
                  <a:srgbClr val="FFFF0A"/>
                </a:solidFill>
                <a:latin typeface="Arial"/>
                <a:ea typeface="Arial"/>
                <a:cs typeface="Arial"/>
              </a:defRPr>
            </a:lvl1pPr>
            <a:lvl2pPr>
              <a:defRPr sz="1920" b="1">
                <a:solidFill>
                  <a:srgbClr val="FFFF0A"/>
                </a:solidFill>
                <a:latin typeface="Arial"/>
                <a:ea typeface="Arial"/>
                <a:cs typeface="Arial"/>
              </a:defRPr>
            </a:lvl2pPr>
            <a:lvl3pPr>
              <a:defRPr sz="1920" b="1">
                <a:solidFill>
                  <a:srgbClr val="FFFF0A"/>
                </a:solidFill>
                <a:latin typeface="Arial"/>
                <a:ea typeface="Arial"/>
                <a:cs typeface="Arial"/>
              </a:defRPr>
            </a:lvl3pPr>
            <a:lvl4pPr>
              <a:defRPr sz="1920" b="1">
                <a:solidFill>
                  <a:srgbClr val="FFFF0A"/>
                </a:solidFill>
                <a:latin typeface="Arial"/>
                <a:ea typeface="Arial"/>
                <a:cs typeface="Arial"/>
              </a:defRPr>
            </a:lvl4pPr>
            <a:lvl5pPr>
              <a:defRPr sz="1920" b="1">
                <a:solidFill>
                  <a:srgbClr val="FFFF0A"/>
                </a:solidFill>
                <a:latin typeface="Arial"/>
                <a:ea typeface="Arial"/>
                <a:cs typeface="Arial"/>
              </a:defRPr>
            </a:lvl5pPr>
            <a:lvl6pPr>
              <a:defRPr sz="1920" b="1">
                <a:solidFill>
                  <a:srgbClr val="FFFF0A"/>
                </a:solidFill>
                <a:latin typeface="Arial"/>
                <a:ea typeface="Arial"/>
                <a:cs typeface="Arial"/>
              </a:defRPr>
            </a:lvl6pPr>
            <a:lvl7pPr>
              <a:defRPr sz="1920" b="1">
                <a:solidFill>
                  <a:srgbClr val="FFFF0A"/>
                </a:solidFill>
                <a:latin typeface="Arial"/>
                <a:ea typeface="Arial"/>
                <a:cs typeface="Arial"/>
              </a:defRPr>
            </a:lvl7pPr>
            <a:lvl8pPr>
              <a:defRPr sz="1920" b="1">
                <a:solidFill>
                  <a:srgbClr val="FFFF0A"/>
                </a:solidFill>
                <a:latin typeface="Arial"/>
                <a:ea typeface="Arial"/>
                <a:cs typeface="Arial"/>
              </a:defRPr>
            </a:lvl8pPr>
            <a:lvl9pPr>
              <a:defRPr sz="1920" b="1">
                <a:solidFill>
                  <a:srgbClr val="FFFF0A"/>
                </a:solidFill>
                <a:latin typeface="Arial"/>
                <a:ea typeface="Arial"/>
                <a:cs typeface="Arial"/>
              </a:defRPr>
            </a:lvl9pPr>
          </a:lstStyle>
          <a:p xmlns:a="http://schemas.openxmlformats.org/drawingml/2006/main">
            <a:pPr>
              <a:lnSpc>
                <a:spcPct val="98000"/>
              </a:lnSpc>
              <a:buNone/>
              <a:defRPr sz="1920" b="1">
                <a:solidFill>
                  <a:srgbClr val="FFFF0A"/>
                </a:solidFill>
                <a:latin typeface="Arial"/>
                <a:ea typeface="Arial"/>
                <a:cs typeface="Arial"/>
              </a:defRPr>
            </a:pPr>
            <a:r>
              <a:rPr sz="1920" b="1">
                <a:solidFill>
                  <a:srgbClr val="FFFF0A"/>
                </a:solidFill>
                <a:latin typeface="Arial"/>
                <a:ea typeface="Arial"/>
                <a:cs typeface="Arial"/>
              </a:rPr>
              <a:t>Secure your lights. Check the power. Switch both on. Aim the front light without glare. Ask a bike shop about fitting help. Find groups and rides at 3fp.org.</a:t>
            </a:r>
          </a:p>
        </p:txBody>
      </p:sp>
      <p:sp>
        <p:nvSpPr>
          <p:cNvPr id="5" name="Brand footer">
            <a:extLst xmlns:a="http://schemas.openxmlformats.org/drawingml/2006/main">
              <a:ext uri="{FF2B5EF4-FFF2-40B4-BE49-F238E27FC236}">
                <a16:creationId xmlns:a16="http://schemas.microsoft.com/office/drawing/2014/main" id="{62F4CF48-EAA2-48C2-A38B-6CA161B549D2}"/>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2E61C08E-4528-4721-BC2E-A05BA7BB5AA1}"/>
              </a:ext>
            </a:extLst>
          </p:cNvPr>
          <p:cNvPicPr>
            <a:picLocks xmlns:a="http://schemas.openxmlformats.org/drawingml/2006/main" noChangeAspect="1"/>
          </p:cNvPicPr>
          <p:nvPr/>
        </p:nvPicPr>
        <p:blipFill>
          <a:blip xmlns:r="http://schemas.openxmlformats.org/officeDocument/2006/relationships" xmlns:a="http://schemas.openxmlformats.org/drawingml/2006/main" r:embed="Rd014fd7dc0014b1f"/>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203B3194-C976-436D-A2CD-102FDCA0B2C1}"/>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64D8F61A-531C-4D8B-9D72-D49C2D565226}"/>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1287777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2026-10-29T13:48:45.7060000Z</dcterms:created>
  <dcterms:modified xsi:type="dcterms:W3CDTF">2026-10-29T13:48:45.7060000Z</dcterms:modified>
</coreProperties>
</file>