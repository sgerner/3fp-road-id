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f82150375448d5" /><Relationship Type="http://schemas.openxmlformats.org/officeDocument/2006/relationships/extended-properties" Target="/docProps/app.xml" Id="R86dff768e2364464" /><Relationship Type="http://schemas.openxmlformats.org/officeDocument/2006/relationships/officeDocument" Target="/ppt/presentation.xml" Id="R82b5e52ebcb64924" /></Relationships>
</file>

<file path=ppt/presentation.xml><?xml version="1.0" encoding="utf-8"?>
<p:presentation xmlns:p="http://schemas.openxmlformats.org/presentationml/2006/main">
  <p:sldMasterIdLst>
    <p:sldMasterId xmlns:r="http://schemas.openxmlformats.org/officeDocument/2006/relationships" id="2147483648" r:id="R9dc9bb2b8c5348c8"/>
  </p:sldMasterIdLst>
  <p:notesMasterIdLst>
    <p:notesMasterId xmlns:r="http://schemas.openxmlformats.org/officeDocument/2006/relationships" r:id="R059ffdc52ad9459b"/>
  </p:notesMasterIdLst>
  <p:sldIdLst>
    <p:sldId xmlns:r="http://schemas.openxmlformats.org/officeDocument/2006/relationships" id="256" r:id="R3db981908d044e85"/>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8eda894154468b" /><Relationship Type="http://schemas.openxmlformats.org/officeDocument/2006/relationships/slideMaster" Target="/ppt/slideMasters/slideMaster1.xml" Id="R9dc9bb2b8c5348c8" /><Relationship Type="http://schemas.openxmlformats.org/officeDocument/2006/relationships/notesMaster" Target="/ppt/notesMasters/notesMaster1.xml" Id="R059ffdc52ad9459b" /><Relationship Type="http://schemas.openxmlformats.org/officeDocument/2006/relationships/presProps" Target="/ppt/presProps.xml" Id="R384b881304a04c3f" /><Relationship Type="http://schemas.openxmlformats.org/officeDocument/2006/relationships/tableStyles" Target="/ppt/tableStyles.xml" Id="Ra6628c335517447f" /><Relationship Type="http://schemas.openxmlformats.org/officeDocument/2006/relationships/slide" Target="/ppt/slides/slide1.xml" Id="R3db981908d044e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57e1969ff74e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56a72adff840b8" /><Relationship Type="http://schemas.openxmlformats.org/officeDocument/2006/relationships/notesMaster" Target="/ppt/notesMasters/notesMaster1.xml" Id="R67d110d76ee24e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Poster: Check Before You Turn. This exact creative is an untested campaign hypothesis using specific guideline-based actions, not a demonstrated crash-reduction intervention. Campaign artwork is an original generated illustration. QR code opens the 3 Feet Please homepage.</a:t>
            </a:r>
          </a:p>
          <a:p xmlns:a="http://schemas.openxmlformats.org/drawingml/2006/main">
            <a:r>
              <a:t>VERSION REVIEW: v8 local edition; reviewed 2026-10-22. Exact 3FP message/artwork remains untested.</a:t>
            </a:r>
          </a:p>
          <a:p xmlns:a="http://schemas.openxmlformats.org/drawingml/2006/main">
            <a:r>
              <a:t>Emotional copy: “A father’s riding straight. Your turn can wait.” is a creative proposal informed by audience and behavior guidance. The exact print copy is untested and has not demonstrated crash reduction or crash prevention.</a:t>
            </a:r>
          </a:p>
          <a:p xmlns:a="http://schemas.openxmlformats.org/drawingml/2006/main">
            <a:r>
              <a:t>Evidence and endpoint: the exact poster is untested; NHTSA provides practice guidance, while adjacent passing and door/turn studies do not test this artwork or establish a poster effect. Turning endpoint: pretest whether drivers understand to check for a rider and allow the rider to clear the path; knowledge does not establish yielding in traffic.</a:t>
            </a:r>
          </a:p>
          <a:p xmlns:a="http://schemas.openxmlformats.org/drawingml/2006/main">
            <a:r>
              <a:t>Practitioner delivery: place where the intended driver audience can pause to read. Use the local passing law and an accurate jurisdiction-specific discussion; do not expose people to hazardous traffic for evaluation.</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NHTSA Cycling Skills Clinic Guide: https://www.nhtsa.gov/document/cycling-skills-clinic-guide</a:t>
            </a:r>
          </a:p>
          <a:p xmlns:a="http://schemas.openxmlformats.org/drawingml/2006/main">
            <a:r>
              <a:t>NHTSA Bicycle Safety: https://www.nhtsa.gov/road-safety/bicycle-safety</a:t>
            </a:r>
          </a:p>
          <a:p xmlns:a="http://schemas.openxmlformats.org/drawingml/2006/main">
            <a:r>
              <a:t>QR code destination: https://3fp.org</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caa27fdb4f4f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8e04653a7044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4b7c8f63c741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b99f45a18a4c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50437697ac245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855cac29be4b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3C0F40-235C-44EC-84C8-6777D693AF69}"/>
              </a:ext>
            </a:extLst>
          </p:cNvPr>
          <p:cNvSpPr>
            <a:spLocks xmlns:a="http://schemas.openxmlformats.org/drawingml/2006/main" noGrp="1"/>
          </p:cNvSpPr>
          <p:nvPr>
            <p:ph type="title" idx="0"/>
          </p:nvPr>
        </p:nvSpPr>
        <p:spPr>
          <a:xfrm xmlns:a="http://schemas.openxmlformats.org/drawingml/2006/main">
            <a:off x="777240" y="3799840"/>
            <a:ext cx="6217920" cy="14528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060" b="1">
                <a:solidFill>
                  <a:schemeClr val="tx1"/>
                </a:solidFill>
                <a:latin typeface="+mj-lt"/>
                <a:ea typeface="+mj-lt"/>
                <a:cs typeface="+mj-lt"/>
              </a:defRPr>
            </a:defPPr>
            <a:lvl1pPr marL="0" indent="0" algn="ctr">
              <a:lnSpc>
                <a:spcPct val="110000"/>
              </a:lnSpc>
              <a:spcBef>
                <a:spcPts val="0"/>
              </a:spcBef>
              <a:spcAft>
                <a:spcPts val="0"/>
              </a:spcAft>
              <a:buNone/>
              <a:defRPr sz="3060" b="1">
                <a:solidFill>
                  <a:schemeClr val="tx1"/>
                </a:solidFill>
                <a:latin typeface="+mj-lt"/>
                <a:ea typeface="+mj-lt"/>
                <a:cs typeface="+mj-lt"/>
              </a:defRPr>
            </a:lvl1pPr>
            <a:lvl2pPr marL="0" indent="0" algn="ctr">
              <a:lnSpc>
                <a:spcPct val="110000"/>
              </a:lnSpc>
              <a:spcBef>
                <a:spcPts val="0"/>
              </a:spcBef>
              <a:spcAft>
                <a:spcPts val="0"/>
              </a:spcAft>
              <a:buNone/>
              <a:defRPr sz="3060" b="1">
                <a:solidFill>
                  <a:schemeClr val="tx1"/>
                </a:solidFill>
                <a:latin typeface="+mj-lt"/>
                <a:ea typeface="+mj-lt"/>
                <a:cs typeface="+mj-lt"/>
              </a:defRPr>
            </a:lvl2pPr>
            <a:lvl3pPr marL="0" indent="0" algn="ctr">
              <a:lnSpc>
                <a:spcPct val="110000"/>
              </a:lnSpc>
              <a:spcBef>
                <a:spcPts val="0"/>
              </a:spcBef>
              <a:spcAft>
                <a:spcPts val="0"/>
              </a:spcAft>
              <a:buNone/>
              <a:defRPr sz="3060" b="1">
                <a:solidFill>
                  <a:schemeClr val="tx1"/>
                </a:solidFill>
                <a:latin typeface="+mj-lt"/>
                <a:ea typeface="+mj-lt"/>
                <a:cs typeface="+mj-lt"/>
              </a:defRPr>
            </a:lvl3pPr>
            <a:lvl4pPr marL="0" indent="0" algn="ctr">
              <a:lnSpc>
                <a:spcPct val="110000"/>
              </a:lnSpc>
              <a:spcBef>
                <a:spcPts val="0"/>
              </a:spcBef>
              <a:spcAft>
                <a:spcPts val="0"/>
              </a:spcAft>
              <a:buNone/>
              <a:defRPr sz="3060" b="1">
                <a:solidFill>
                  <a:schemeClr val="tx1"/>
                </a:solidFill>
                <a:latin typeface="+mj-lt"/>
                <a:ea typeface="+mj-lt"/>
                <a:cs typeface="+mj-lt"/>
              </a:defRPr>
            </a:lvl4pPr>
            <a:lvl5pPr marL="0" indent="0" algn="ctr">
              <a:lnSpc>
                <a:spcPct val="110000"/>
              </a:lnSpc>
              <a:spcBef>
                <a:spcPts val="0"/>
              </a:spcBef>
              <a:spcAft>
                <a:spcPts val="0"/>
              </a:spcAft>
              <a:buNone/>
              <a:defRPr sz="3060" b="1">
                <a:solidFill>
                  <a:schemeClr val="tx1"/>
                </a:solidFill>
                <a:latin typeface="+mj-lt"/>
                <a:ea typeface="+mj-lt"/>
                <a:cs typeface="+mj-lt"/>
              </a:defRPr>
            </a:lvl5pPr>
            <a:lvl6pPr marL="0" indent="0" algn="ctr">
              <a:lnSpc>
                <a:spcPct val="110000"/>
              </a:lnSpc>
              <a:spcBef>
                <a:spcPts val="0"/>
              </a:spcBef>
              <a:spcAft>
                <a:spcPts val="0"/>
              </a:spcAft>
              <a:buNone/>
              <a:defRPr sz="3060" b="1">
                <a:solidFill>
                  <a:schemeClr val="tx1"/>
                </a:solidFill>
                <a:latin typeface="+mj-lt"/>
                <a:ea typeface="+mj-lt"/>
                <a:cs typeface="+mj-lt"/>
              </a:defRPr>
            </a:lvl6pPr>
            <a:lvl7pPr marL="0" indent="0" algn="ctr">
              <a:lnSpc>
                <a:spcPct val="110000"/>
              </a:lnSpc>
              <a:spcBef>
                <a:spcPts val="0"/>
              </a:spcBef>
              <a:spcAft>
                <a:spcPts val="0"/>
              </a:spcAft>
              <a:buNone/>
              <a:defRPr sz="3060" b="1">
                <a:solidFill>
                  <a:schemeClr val="tx1"/>
                </a:solidFill>
                <a:latin typeface="+mj-lt"/>
                <a:ea typeface="+mj-lt"/>
                <a:cs typeface="+mj-lt"/>
              </a:defRPr>
            </a:lvl7pPr>
            <a:lvl8pPr marL="0" indent="0" algn="ctr">
              <a:lnSpc>
                <a:spcPct val="110000"/>
              </a:lnSpc>
              <a:spcBef>
                <a:spcPts val="0"/>
              </a:spcBef>
              <a:spcAft>
                <a:spcPts val="0"/>
              </a:spcAft>
              <a:buNone/>
              <a:defRPr sz="3060" b="1">
                <a:solidFill>
                  <a:schemeClr val="tx1"/>
                </a:solidFill>
                <a:latin typeface="+mj-lt"/>
                <a:ea typeface="+mj-lt"/>
                <a:cs typeface="+mj-lt"/>
              </a:defRPr>
            </a:lvl8pPr>
            <a:lvl9pPr marL="0" indent="0" algn="ctr">
              <a:lnSpc>
                <a:spcPct val="110000"/>
              </a:lnSpc>
              <a:spcBef>
                <a:spcPts val="0"/>
              </a:spcBef>
              <a:spcAft>
                <a:spcPts val="0"/>
              </a:spcAft>
              <a:buNone/>
              <a:defRPr sz="30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6C41631-059C-4EDD-A8B5-3708AB715C9D}"/>
              </a:ext>
            </a:extLst>
          </p:cNvPr>
          <p:cNvSpPr>
            <a:spLocks xmlns:a="http://schemas.openxmlformats.org/drawingml/2006/main" noGrp="1"/>
          </p:cNvSpPr>
          <p:nvPr>
            <p:ph type="subTitle" idx="1"/>
          </p:nvPr>
        </p:nvSpPr>
        <p:spPr>
          <a:xfrm xmlns:a="http://schemas.openxmlformats.org/drawingml/2006/main">
            <a:off x="1165860" y="5532120"/>
            <a:ext cx="544068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39" b="0">
                <a:solidFill>
                  <a:schemeClr val="tx1"/>
                </a:solidFill>
                <a:latin typeface="+mn-lt"/>
                <a:ea typeface="+mn-lt"/>
                <a:cs typeface="+mn-lt"/>
              </a:defRPr>
            </a:defPPr>
            <a:lvl1pPr marL="0" indent="0" algn="ctr">
              <a:lnSpc>
                <a:spcPct val="110000"/>
              </a:lnSpc>
              <a:spcBef>
                <a:spcPts val="0"/>
              </a:spcBef>
              <a:spcAft>
                <a:spcPts val="0"/>
              </a:spcAft>
              <a:buNone/>
              <a:defRPr sz="1339" b="0">
                <a:solidFill>
                  <a:schemeClr val="tx1"/>
                </a:solidFill>
                <a:latin typeface="+mn-lt"/>
                <a:ea typeface="+mn-lt"/>
                <a:cs typeface="+mn-lt"/>
              </a:defRPr>
            </a:lvl1pPr>
            <a:lvl2pPr marL="0" indent="0" algn="ctr">
              <a:lnSpc>
                <a:spcPct val="110000"/>
              </a:lnSpc>
              <a:spcBef>
                <a:spcPts val="0"/>
              </a:spcBef>
              <a:spcAft>
                <a:spcPts val="0"/>
              </a:spcAft>
              <a:buNone/>
              <a:defRPr sz="1339" b="0">
                <a:solidFill>
                  <a:schemeClr val="tx1"/>
                </a:solidFill>
                <a:latin typeface="+mn-lt"/>
                <a:ea typeface="+mn-lt"/>
                <a:cs typeface="+mn-lt"/>
              </a:defRPr>
            </a:lvl2pPr>
            <a:lvl3pPr marL="0" indent="0" algn="ctr">
              <a:lnSpc>
                <a:spcPct val="110000"/>
              </a:lnSpc>
              <a:spcBef>
                <a:spcPts val="0"/>
              </a:spcBef>
              <a:spcAft>
                <a:spcPts val="0"/>
              </a:spcAft>
              <a:buNone/>
              <a:defRPr sz="1339" b="0">
                <a:solidFill>
                  <a:schemeClr val="tx1"/>
                </a:solidFill>
                <a:latin typeface="+mn-lt"/>
                <a:ea typeface="+mn-lt"/>
                <a:cs typeface="+mn-lt"/>
              </a:defRPr>
            </a:lvl3pPr>
            <a:lvl4pPr marL="0" indent="0" algn="ctr">
              <a:lnSpc>
                <a:spcPct val="110000"/>
              </a:lnSpc>
              <a:spcBef>
                <a:spcPts val="0"/>
              </a:spcBef>
              <a:spcAft>
                <a:spcPts val="0"/>
              </a:spcAft>
              <a:buNone/>
              <a:defRPr sz="1339" b="0">
                <a:solidFill>
                  <a:schemeClr val="tx1"/>
                </a:solidFill>
                <a:latin typeface="+mn-lt"/>
                <a:ea typeface="+mn-lt"/>
                <a:cs typeface="+mn-lt"/>
              </a:defRPr>
            </a:lvl4pPr>
            <a:lvl5pPr marL="0" indent="0" algn="ctr">
              <a:lnSpc>
                <a:spcPct val="110000"/>
              </a:lnSpc>
              <a:spcBef>
                <a:spcPts val="0"/>
              </a:spcBef>
              <a:spcAft>
                <a:spcPts val="0"/>
              </a:spcAft>
              <a:buNone/>
              <a:defRPr sz="1339" b="0">
                <a:solidFill>
                  <a:schemeClr val="tx1"/>
                </a:solidFill>
                <a:latin typeface="+mn-lt"/>
                <a:ea typeface="+mn-lt"/>
                <a:cs typeface="+mn-lt"/>
              </a:defRPr>
            </a:lvl5pPr>
            <a:lvl6pPr marL="0" indent="0" algn="ctr">
              <a:lnSpc>
                <a:spcPct val="110000"/>
              </a:lnSpc>
              <a:spcBef>
                <a:spcPts val="0"/>
              </a:spcBef>
              <a:spcAft>
                <a:spcPts val="0"/>
              </a:spcAft>
              <a:buNone/>
              <a:defRPr sz="1339" b="0">
                <a:solidFill>
                  <a:schemeClr val="tx1"/>
                </a:solidFill>
                <a:latin typeface="+mn-lt"/>
                <a:ea typeface="+mn-lt"/>
                <a:cs typeface="+mn-lt"/>
              </a:defRPr>
            </a:lvl6pPr>
            <a:lvl7pPr marL="0" indent="0" algn="ctr">
              <a:lnSpc>
                <a:spcPct val="110000"/>
              </a:lnSpc>
              <a:spcBef>
                <a:spcPts val="0"/>
              </a:spcBef>
              <a:spcAft>
                <a:spcPts val="0"/>
              </a:spcAft>
              <a:buNone/>
              <a:defRPr sz="1339" b="0">
                <a:solidFill>
                  <a:schemeClr val="tx1"/>
                </a:solidFill>
                <a:latin typeface="+mn-lt"/>
                <a:ea typeface="+mn-lt"/>
                <a:cs typeface="+mn-lt"/>
              </a:defRPr>
            </a:lvl7pPr>
            <a:lvl8pPr marL="0" indent="0" algn="ctr">
              <a:lnSpc>
                <a:spcPct val="110000"/>
              </a:lnSpc>
              <a:spcBef>
                <a:spcPts val="0"/>
              </a:spcBef>
              <a:spcAft>
                <a:spcPts val="0"/>
              </a:spcAft>
              <a:buNone/>
              <a:defRPr sz="1339" b="0">
                <a:solidFill>
                  <a:schemeClr val="tx1"/>
                </a:solidFill>
                <a:latin typeface="+mn-lt"/>
                <a:ea typeface="+mn-lt"/>
                <a:cs typeface="+mn-lt"/>
              </a:defRPr>
            </a:lvl8pPr>
            <a:lvl9pPr marL="0" indent="0" algn="ctr">
              <a:lnSpc>
                <a:spcPct val="110000"/>
              </a:lnSpc>
              <a:spcBef>
                <a:spcPts val="0"/>
              </a:spcBef>
              <a:spcAft>
                <a:spcPts val="0"/>
              </a:spcAft>
              <a:buNone/>
              <a:defRPr sz="133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5E6AB2-F164-448E-A29B-B14D93F381FB}"/>
              </a:ext>
            </a:extLst>
          </p:cNvPr>
          <p:cNvSpPr>
            <a:spLocks xmlns:a="http://schemas.openxmlformats.org/drawingml/2006/main" noGrp="1"/>
          </p:cNvSpPr>
          <p:nvPr>
            <p:ph type="title" idx="0"/>
          </p:nvPr>
        </p:nvSpPr>
        <p:spPr>
          <a:xfrm xmlns:a="http://schemas.openxmlformats.org/drawingml/2006/main">
            <a:off x="777240" y="4191000"/>
            <a:ext cx="6217920" cy="1676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77" b="1">
                <a:solidFill>
                  <a:schemeClr val="tx1"/>
                </a:solidFill>
                <a:latin typeface="+mj-lt"/>
                <a:ea typeface="+mj-lt"/>
                <a:cs typeface="+mj-lt"/>
              </a:defRPr>
            </a:defPPr>
            <a:lvl1pPr marL="0" indent="0" algn="ctr">
              <a:lnSpc>
                <a:spcPct val="110000"/>
              </a:lnSpc>
              <a:spcBef>
                <a:spcPts val="0"/>
              </a:spcBef>
              <a:spcAft>
                <a:spcPts val="0"/>
              </a:spcAft>
              <a:buNone/>
              <a:defRPr sz="2677" b="1">
                <a:solidFill>
                  <a:schemeClr val="tx1"/>
                </a:solidFill>
                <a:latin typeface="+mj-lt"/>
                <a:ea typeface="+mj-lt"/>
                <a:cs typeface="+mj-lt"/>
              </a:defRPr>
            </a:lvl1pPr>
            <a:lvl2pPr marL="0" indent="0" algn="ctr">
              <a:lnSpc>
                <a:spcPct val="110000"/>
              </a:lnSpc>
              <a:spcBef>
                <a:spcPts val="0"/>
              </a:spcBef>
              <a:spcAft>
                <a:spcPts val="0"/>
              </a:spcAft>
              <a:buNone/>
              <a:defRPr sz="2677" b="1">
                <a:solidFill>
                  <a:schemeClr val="tx1"/>
                </a:solidFill>
                <a:latin typeface="+mj-lt"/>
                <a:ea typeface="+mj-lt"/>
                <a:cs typeface="+mj-lt"/>
              </a:defRPr>
            </a:lvl2pPr>
            <a:lvl3pPr marL="0" indent="0" algn="ctr">
              <a:lnSpc>
                <a:spcPct val="110000"/>
              </a:lnSpc>
              <a:spcBef>
                <a:spcPts val="0"/>
              </a:spcBef>
              <a:spcAft>
                <a:spcPts val="0"/>
              </a:spcAft>
              <a:buNone/>
              <a:defRPr sz="2677" b="1">
                <a:solidFill>
                  <a:schemeClr val="tx1"/>
                </a:solidFill>
                <a:latin typeface="+mj-lt"/>
                <a:ea typeface="+mj-lt"/>
                <a:cs typeface="+mj-lt"/>
              </a:defRPr>
            </a:lvl3pPr>
            <a:lvl4pPr marL="0" indent="0" algn="ctr">
              <a:lnSpc>
                <a:spcPct val="110000"/>
              </a:lnSpc>
              <a:spcBef>
                <a:spcPts val="0"/>
              </a:spcBef>
              <a:spcAft>
                <a:spcPts val="0"/>
              </a:spcAft>
              <a:buNone/>
              <a:defRPr sz="2677" b="1">
                <a:solidFill>
                  <a:schemeClr val="tx1"/>
                </a:solidFill>
                <a:latin typeface="+mj-lt"/>
                <a:ea typeface="+mj-lt"/>
                <a:cs typeface="+mj-lt"/>
              </a:defRPr>
            </a:lvl4pPr>
            <a:lvl5pPr marL="0" indent="0" algn="ctr">
              <a:lnSpc>
                <a:spcPct val="110000"/>
              </a:lnSpc>
              <a:spcBef>
                <a:spcPts val="0"/>
              </a:spcBef>
              <a:spcAft>
                <a:spcPts val="0"/>
              </a:spcAft>
              <a:buNone/>
              <a:defRPr sz="2677" b="1">
                <a:solidFill>
                  <a:schemeClr val="tx1"/>
                </a:solidFill>
                <a:latin typeface="+mj-lt"/>
                <a:ea typeface="+mj-lt"/>
                <a:cs typeface="+mj-lt"/>
              </a:defRPr>
            </a:lvl5pPr>
            <a:lvl6pPr marL="0" indent="0" algn="ctr">
              <a:lnSpc>
                <a:spcPct val="110000"/>
              </a:lnSpc>
              <a:spcBef>
                <a:spcPts val="0"/>
              </a:spcBef>
              <a:spcAft>
                <a:spcPts val="0"/>
              </a:spcAft>
              <a:buNone/>
              <a:defRPr sz="2677" b="1">
                <a:solidFill>
                  <a:schemeClr val="tx1"/>
                </a:solidFill>
                <a:latin typeface="+mj-lt"/>
                <a:ea typeface="+mj-lt"/>
                <a:cs typeface="+mj-lt"/>
              </a:defRPr>
            </a:lvl6pPr>
            <a:lvl7pPr marL="0" indent="0" algn="ctr">
              <a:lnSpc>
                <a:spcPct val="110000"/>
              </a:lnSpc>
              <a:spcBef>
                <a:spcPts val="0"/>
              </a:spcBef>
              <a:spcAft>
                <a:spcPts val="0"/>
              </a:spcAft>
              <a:buNone/>
              <a:defRPr sz="2677" b="1">
                <a:solidFill>
                  <a:schemeClr val="tx1"/>
                </a:solidFill>
                <a:latin typeface="+mj-lt"/>
                <a:ea typeface="+mj-lt"/>
                <a:cs typeface="+mj-lt"/>
              </a:defRPr>
            </a:lvl7pPr>
            <a:lvl8pPr marL="0" indent="0" algn="ctr">
              <a:lnSpc>
                <a:spcPct val="110000"/>
              </a:lnSpc>
              <a:spcBef>
                <a:spcPts val="0"/>
              </a:spcBef>
              <a:spcAft>
                <a:spcPts val="0"/>
              </a:spcAft>
              <a:buNone/>
              <a:defRPr sz="2677" b="1">
                <a:solidFill>
                  <a:schemeClr val="tx1"/>
                </a:solidFill>
                <a:latin typeface="+mj-lt"/>
                <a:ea typeface="+mj-lt"/>
                <a:cs typeface="+mj-lt"/>
              </a:defRPr>
            </a:lvl8pPr>
            <a:lvl9pPr marL="0" indent="0" algn="ctr">
              <a:lnSpc>
                <a:spcPct val="110000"/>
              </a:lnSpc>
              <a:spcBef>
                <a:spcPts val="0"/>
              </a:spcBef>
              <a:spcAft>
                <a:spcPts val="0"/>
              </a:spcAft>
              <a:buNone/>
              <a:defRPr sz="267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6CC3AE-E640-41F2-9DDD-518E0890EB73}"/>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4F3E4A4-C834-4453-978F-916EA6A30042}"/>
              </a:ext>
            </a:extLst>
          </p:cNvPr>
          <p:cNvSpPr>
            <a:spLocks xmlns:a="http://schemas.openxmlformats.org/drawingml/2006/main" noGrp="1"/>
          </p:cNvSpPr>
          <p:nvPr>
            <p:ph type="body" idx="1"/>
          </p:nvPr>
        </p:nvSpPr>
        <p:spPr>
          <a:xfrm xmlns:a="http://schemas.openxmlformats.org/drawingml/2006/main">
            <a:off x="437198" y="2794000"/>
            <a:ext cx="689800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7627F87-D3D3-4936-A287-D45DC15741D9}"/>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456F1C-09F7-4431-844D-F4E605A1828E}"/>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5FDF03C-7262-4DEC-8C99-C91CC712BE81}"/>
              </a:ext>
            </a:extLst>
          </p:cNvPr>
          <p:cNvSpPr>
            <a:spLocks xmlns:a="http://schemas.openxmlformats.org/drawingml/2006/main" noGrp="1"/>
          </p:cNvSpPr>
          <p:nvPr>
            <p:ph type="body" idx="2"/>
          </p:nvPr>
        </p:nvSpPr>
        <p:spPr>
          <a:xfrm xmlns:a="http://schemas.openxmlformats.org/drawingml/2006/main">
            <a:off x="4129087"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3E9078-989B-4868-8F1C-B3865F54C000}"/>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D8C2E6-FE69-42A5-B586-A5B451999B87}"/>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b4bf1d15f34ef9" /><Relationship Type="http://schemas.openxmlformats.org/officeDocument/2006/relationships/slideLayout" Target="/ppt/slideLayouts/slideLayout1.xml" Id="R397ffa0e55b44d62" /><Relationship Type="http://schemas.openxmlformats.org/officeDocument/2006/relationships/slideLayout" Target="/ppt/slideLayouts/slideLayout2.xml" Id="R0a478a70a64d4b3e" /><Relationship Type="http://schemas.openxmlformats.org/officeDocument/2006/relationships/slideLayout" Target="/ppt/slideLayouts/slideLayout3.xml" Id="Rb2b9d22439664dc8" /><Relationship Type="http://schemas.openxmlformats.org/officeDocument/2006/relationships/slideLayout" Target="/ppt/slideLayouts/slideLayout4.xml" Id="R6e4f1dd8ccfb4347" /><Relationship Type="http://schemas.openxmlformats.org/officeDocument/2006/relationships/slideLayout" Target="/ppt/slideLayouts/slideLayout5.xml" Id="R465c7beda3b644ae" /><Relationship Type="http://schemas.openxmlformats.org/officeDocument/2006/relationships/slideLayout" Target="/ppt/slideLayouts/slideLayout6.xml" Id="R58f3bc8569564d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7ffa0e55b44d62"/>
    <p:sldLayoutId xmlns:r="http://schemas.openxmlformats.org/officeDocument/2006/relationships" id="2147483650" r:id="R0a478a70a64d4b3e"/>
    <p:sldLayoutId xmlns:r="http://schemas.openxmlformats.org/officeDocument/2006/relationships" id="2147483651" r:id="Rb2b9d22439664dc8"/>
    <p:sldLayoutId xmlns:r="http://schemas.openxmlformats.org/officeDocument/2006/relationships" id="2147483652" r:id="R6e4f1dd8ccfb4347"/>
    <p:sldLayoutId xmlns:r="http://schemas.openxmlformats.org/officeDocument/2006/relationships" id="2147483653" r:id="R465c7beda3b644ae"/>
    <p:sldLayoutId xmlns:r="http://schemas.openxmlformats.org/officeDocument/2006/relationships" id="2147483654" r:id="R58f3bc8569564d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9b4fb8ea0294226" /><Relationship Type="http://schemas.openxmlformats.org/officeDocument/2006/relationships/image" Target="/ppt/media/image.png" Id="R6adb64f6ebcd4a0e" /><Relationship Type="http://schemas.openxmlformats.org/officeDocument/2006/relationships/image" Target="/ppt/media/image2.png" Id="Rc72848f2eb6747ff" /><Relationship Type="http://schemas.openxmlformats.org/officeDocument/2006/relationships/image" Target="/ppt/media/image3.png" Id="Re69204bd7fcd47a6" /><Relationship Type="http://schemas.openxmlformats.org/officeDocument/2006/relationships/notesSlide" Target="/ppt/notesSlides/notesSlide1.xml" Id="Rd0ceddaff6fb4b45" /></Relationships>
</file>

<file path=ppt/slides/slide1.xml><?xml version="1.0" encoding="utf-8"?>
<p:sld xmlns:p="http://schemas.openxmlformats.org/presentationml/2006/main">
  <p:cSld>
    <p:bg>
      <p:bgPr>
        <a:solidFill xmlns:a="http://schemas.openxmlformats.org/drawingml/2006/main">
          <a:srgbClr val="241061"/>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05F802F-BB14-455F-8A0D-97C9208A3F23}"/>
              </a:ext>
            </a:extLst>
          </p:cNvPr>
          <p:cNvPicPr>
            <a:picLocks xmlns:a="http://schemas.openxmlformats.org/drawingml/2006/main" noChangeAspect="1"/>
          </p:cNvPicPr>
          <p:nvPr/>
        </p:nvPicPr>
        <p:blipFill>
          <a:blip xmlns:r="http://schemas.openxmlformats.org/officeDocument/2006/relationships" xmlns:a="http://schemas.openxmlformats.org/drawingml/2006/main" r:embed="R6adb64f6ebcd4a0e"/>
          <a:srcRect xmlns:a="http://schemas.openxmlformats.org/drawingml/2006/main" l="0" t="6863" r="0" b="6863"/>
          <a:stretch xmlns:a="http://schemas.openxmlformats.org/drawingml/2006/main">
            <a:fillRect l="0" t="0" r="0" b="0"/>
          </a:stretch>
        </p:blipFill>
        <p:spPr>
          <a:xfrm xmlns:a="http://schemas.openxmlformats.org/drawingml/2006/main">
            <a:off x="0" y="0"/>
            <a:ext cx="7772400" cy="10058400"/>
          </a:xfrm>
          <a:prstGeom xmlns:a="http://schemas.openxmlformats.org/drawingml/2006/main" prst="rect">
            <a:avLst/>
          </a:prstGeom>
        </p:spPr>
      </p:pic>
      <p:sp>
        <p:nvSpPr>
          <p:cNvPr id="2" name="Check Before You Turn headline accent">
            <a:extLst xmlns:a="http://schemas.openxmlformats.org/drawingml/2006/main">
              <a:ext uri="{FF2B5EF4-FFF2-40B4-BE49-F238E27FC236}">
                <a16:creationId xmlns:a16="http://schemas.microsoft.com/office/drawing/2014/main" id="{B30813EF-D59F-4E2B-A686-6DD06F10A6CE}"/>
              </a:ext>
            </a:extLst>
          </p:cNvPr>
          <p:cNvSpPr>
            <a:spLocks xmlns:a="http://schemas.openxmlformats.org/drawingml/2006/main" noGrp="1"/>
          </p:cNvSpPr>
          <p:nvPr/>
        </p:nvSpPr>
        <p:spPr>
          <a:xfrm xmlns:a="http://schemas.openxmlformats.org/drawingml/2006/main">
            <a:off x="497434" y="362102"/>
            <a:ext cx="582930" cy="6035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3" name="Check Before You Turn editable headline">
            <a:extLst xmlns:a="http://schemas.openxmlformats.org/drawingml/2006/main">
              <a:ext uri="{FF2B5EF4-FFF2-40B4-BE49-F238E27FC236}">
                <a16:creationId xmlns:a16="http://schemas.microsoft.com/office/drawing/2014/main" id="{91AEED93-C9E3-4A9B-A79F-A98BAF51B214}"/>
              </a:ext>
            </a:extLst>
          </p:cNvPr>
          <p:cNvSpPr>
            <a:spLocks xmlns:a="http://schemas.openxmlformats.org/drawingml/2006/main" noGrp="1"/>
          </p:cNvSpPr>
          <p:nvPr/>
        </p:nvSpPr>
        <p:spPr>
          <a:xfrm xmlns:a="http://schemas.openxmlformats.org/drawingml/2006/main">
            <a:off x="497434" y="523037"/>
            <a:ext cx="6777533" cy="1508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00" b="1">
                <a:solidFill>
                  <a:srgbClr val="FFFF0A"/>
                </a:solidFill>
                <a:latin typeface="Space Grotesk"/>
                <a:ea typeface="Space Grotesk"/>
                <a:cs typeface="Space Grotesk"/>
              </a:defRPr>
            </a:defPPr>
            <a:lvl1pPr algn="l">
              <a:defRPr sz="3200" b="1">
                <a:solidFill>
                  <a:srgbClr val="FFFF0A"/>
                </a:solidFill>
                <a:latin typeface="Space Grotesk"/>
                <a:ea typeface="Space Grotesk"/>
                <a:cs typeface="Space Grotesk"/>
              </a:defRPr>
            </a:lvl1pPr>
            <a:lvl2pPr algn="l">
              <a:defRPr sz="3200" b="1">
                <a:solidFill>
                  <a:srgbClr val="FFFF0A"/>
                </a:solidFill>
                <a:latin typeface="Space Grotesk"/>
                <a:ea typeface="Space Grotesk"/>
                <a:cs typeface="Space Grotesk"/>
              </a:defRPr>
            </a:lvl2pPr>
            <a:lvl3pPr algn="l">
              <a:defRPr sz="3200" b="1">
                <a:solidFill>
                  <a:srgbClr val="FFFF0A"/>
                </a:solidFill>
                <a:latin typeface="Space Grotesk"/>
                <a:ea typeface="Space Grotesk"/>
                <a:cs typeface="Space Grotesk"/>
              </a:defRPr>
            </a:lvl3pPr>
            <a:lvl4pPr algn="l">
              <a:defRPr sz="3200" b="1">
                <a:solidFill>
                  <a:srgbClr val="FFFF0A"/>
                </a:solidFill>
                <a:latin typeface="Space Grotesk"/>
                <a:ea typeface="Space Grotesk"/>
                <a:cs typeface="Space Grotesk"/>
              </a:defRPr>
            </a:lvl4pPr>
            <a:lvl5pPr algn="l">
              <a:defRPr sz="3200" b="1">
                <a:solidFill>
                  <a:srgbClr val="FFFF0A"/>
                </a:solidFill>
                <a:latin typeface="Space Grotesk"/>
                <a:ea typeface="Space Grotesk"/>
                <a:cs typeface="Space Grotesk"/>
              </a:defRPr>
            </a:lvl5pPr>
            <a:lvl6pPr algn="l">
              <a:defRPr sz="3200" b="1">
                <a:solidFill>
                  <a:srgbClr val="FFFF0A"/>
                </a:solidFill>
                <a:latin typeface="Space Grotesk"/>
                <a:ea typeface="Space Grotesk"/>
                <a:cs typeface="Space Grotesk"/>
              </a:defRPr>
            </a:lvl6pPr>
            <a:lvl7pPr algn="l">
              <a:defRPr sz="3200" b="1">
                <a:solidFill>
                  <a:srgbClr val="FFFF0A"/>
                </a:solidFill>
                <a:latin typeface="Space Grotesk"/>
                <a:ea typeface="Space Grotesk"/>
                <a:cs typeface="Space Grotesk"/>
              </a:defRPr>
            </a:lvl7pPr>
            <a:lvl8pPr algn="l">
              <a:defRPr sz="3200" b="1">
                <a:solidFill>
                  <a:srgbClr val="FFFF0A"/>
                </a:solidFill>
                <a:latin typeface="Space Grotesk"/>
                <a:ea typeface="Space Grotesk"/>
                <a:cs typeface="Space Grotesk"/>
              </a:defRPr>
            </a:lvl8pPr>
            <a:lvl9pPr algn="l">
              <a:defRPr sz="3200" b="1">
                <a:solidFill>
                  <a:srgbClr val="FFFF0A"/>
                </a:solidFill>
                <a:latin typeface="Space Grotesk"/>
                <a:ea typeface="Space Grotesk"/>
                <a:cs typeface="Space Grotesk"/>
              </a:defRPr>
            </a:lvl9pPr>
          </a:lstStyle>
          <a:p xmlns:a="http://schemas.openxmlformats.org/drawingml/2006/main">
            <a:pPr algn="l">
              <a:lnSpc>
                <a:spcPct val="95000"/>
              </a:lnSpc>
              <a:buNone/>
              <a:defRPr sz="3200" b="1">
                <a:solidFill>
                  <a:srgbClr val="FFFF0A"/>
                </a:solidFill>
                <a:latin typeface="Space Grotesk"/>
                <a:ea typeface="Space Grotesk"/>
                <a:cs typeface="Space Grotesk"/>
              </a:defRPr>
            </a:pPr>
            <a:r>
              <a:rPr sz="3200" b="1">
                <a:solidFill>
                  <a:srgbClr val="FFFF0A"/>
                </a:solidFill>
                <a:latin typeface="Space Grotesk"/>
                <a:ea typeface="Space Grotesk"/>
                <a:cs typeface="Space Grotesk"/>
              </a:rPr>
              <a:t>BEFORE YOU TURN,</a:t>
            </a:r>
          </a:p>
          <a:p xmlns:a="http://schemas.openxmlformats.org/drawingml/2006/main">
            <a:pPr algn="l">
              <a:lnSpc>
                <a:spcPct val="95000"/>
              </a:lnSpc>
              <a:buNone/>
              <a:defRPr sz="3200" b="1">
                <a:solidFill>
                  <a:srgbClr val="FFFF0A"/>
                </a:solidFill>
                <a:latin typeface="Space Grotesk"/>
                <a:ea typeface="Space Grotesk"/>
                <a:cs typeface="Space Grotesk"/>
              </a:defRPr>
            </a:pPr>
            <a:r>
              <a:rPr sz="3200" b="1">
                <a:solidFill>
                  <a:srgbClr val="FFFF0A"/>
                </a:solidFill>
                <a:latin typeface="Space Grotesk"/>
                <a:ea typeface="Space Grotesk"/>
                <a:cs typeface="Space Grotesk"/>
              </a:rPr>
              <a:t>CHECK AND WAIT.</a:t>
            </a:r>
          </a:p>
        </p:txBody>
      </p:sp>
      <p:sp>
        <p:nvSpPr>
          <p:cNvPr id="4" name="Check Before You Turn editable action">
            <a:extLst xmlns:a="http://schemas.openxmlformats.org/drawingml/2006/main">
              <a:ext uri="{FF2B5EF4-FFF2-40B4-BE49-F238E27FC236}">
                <a16:creationId xmlns:a16="http://schemas.microsoft.com/office/drawing/2014/main" id="{17A7874C-BC6B-4698-BC85-9484D1BB772B}"/>
              </a:ext>
            </a:extLst>
          </p:cNvPr>
          <p:cNvSpPr>
            <a:spLocks xmlns:a="http://schemas.openxmlformats.org/drawingml/2006/main" noGrp="1"/>
          </p:cNvSpPr>
          <p:nvPr/>
        </p:nvSpPr>
        <p:spPr>
          <a:xfrm xmlns:a="http://schemas.openxmlformats.org/drawingml/2006/main">
            <a:off x="506959" y="2011680"/>
            <a:ext cx="6758483"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50" b="1">
                <a:solidFill>
                  <a:srgbClr val="FFFFFF"/>
                </a:solidFill>
                <a:latin typeface="Arial"/>
                <a:ea typeface="Arial"/>
                <a:cs typeface="Arial"/>
              </a:defRPr>
            </a:defPPr>
            <a:lvl1pPr algn="l">
              <a:defRPr sz="1550" b="1">
                <a:solidFill>
                  <a:srgbClr val="FFFFFF"/>
                </a:solidFill>
                <a:latin typeface="Arial"/>
                <a:ea typeface="Arial"/>
                <a:cs typeface="Arial"/>
              </a:defRPr>
            </a:lvl1pPr>
            <a:lvl2pPr algn="l">
              <a:defRPr sz="1550" b="1">
                <a:solidFill>
                  <a:srgbClr val="FFFFFF"/>
                </a:solidFill>
                <a:latin typeface="Arial"/>
                <a:ea typeface="Arial"/>
                <a:cs typeface="Arial"/>
              </a:defRPr>
            </a:lvl2pPr>
            <a:lvl3pPr algn="l">
              <a:defRPr sz="1550" b="1">
                <a:solidFill>
                  <a:srgbClr val="FFFFFF"/>
                </a:solidFill>
                <a:latin typeface="Arial"/>
                <a:ea typeface="Arial"/>
                <a:cs typeface="Arial"/>
              </a:defRPr>
            </a:lvl3pPr>
            <a:lvl4pPr algn="l">
              <a:defRPr sz="1550" b="1">
                <a:solidFill>
                  <a:srgbClr val="FFFFFF"/>
                </a:solidFill>
                <a:latin typeface="Arial"/>
                <a:ea typeface="Arial"/>
                <a:cs typeface="Arial"/>
              </a:defRPr>
            </a:lvl4pPr>
            <a:lvl5pPr algn="l">
              <a:defRPr sz="1550" b="1">
                <a:solidFill>
                  <a:srgbClr val="FFFFFF"/>
                </a:solidFill>
                <a:latin typeface="Arial"/>
                <a:ea typeface="Arial"/>
                <a:cs typeface="Arial"/>
              </a:defRPr>
            </a:lvl5pPr>
            <a:lvl6pPr algn="l">
              <a:defRPr sz="1550" b="1">
                <a:solidFill>
                  <a:srgbClr val="FFFFFF"/>
                </a:solidFill>
                <a:latin typeface="Arial"/>
                <a:ea typeface="Arial"/>
                <a:cs typeface="Arial"/>
              </a:defRPr>
            </a:lvl6pPr>
            <a:lvl7pPr algn="l">
              <a:defRPr sz="1550" b="1">
                <a:solidFill>
                  <a:srgbClr val="FFFFFF"/>
                </a:solidFill>
                <a:latin typeface="Arial"/>
                <a:ea typeface="Arial"/>
                <a:cs typeface="Arial"/>
              </a:defRPr>
            </a:lvl7pPr>
            <a:lvl8pPr algn="l">
              <a:defRPr sz="1550" b="1">
                <a:solidFill>
                  <a:srgbClr val="FFFFFF"/>
                </a:solidFill>
                <a:latin typeface="Arial"/>
                <a:ea typeface="Arial"/>
                <a:cs typeface="Arial"/>
              </a:defRPr>
            </a:lvl8pPr>
            <a:lvl9pPr algn="l">
              <a:defRPr sz="1550" b="1">
                <a:solidFill>
                  <a:srgbClr val="FFFFFF"/>
                </a:solidFill>
                <a:latin typeface="Arial"/>
                <a:ea typeface="Arial"/>
                <a:cs typeface="Arial"/>
              </a:defRPr>
            </a:lvl9pPr>
          </a:lstStyle>
          <a:p xmlns:a="http://schemas.openxmlformats.org/drawingml/2006/main">
            <a:pPr algn="l">
              <a:lnSpc>
                <a:spcPct val="100000"/>
              </a:lnSpc>
              <a:buNone/>
              <a:defRPr sz="1550" b="1">
                <a:solidFill>
                  <a:srgbClr val="FFFFFF"/>
                </a:solidFill>
                <a:latin typeface="Arial"/>
                <a:ea typeface="Arial"/>
                <a:cs typeface="Arial"/>
              </a:defRPr>
            </a:pPr>
            <a:r>
              <a:rPr sz="1550" b="1">
                <a:solidFill>
                  <a:srgbClr val="FFFFFF"/>
                </a:solidFill>
                <a:latin typeface="Arial"/>
                <a:ea typeface="Arial"/>
                <a:cs typeface="Arial"/>
              </a:rPr>
              <a:t>Look ahead, beside and behind for riders. Wait until the rider clears your path before turning across it.</a:t>
            </a:r>
          </a:p>
        </p:txBody>
      </p:sp>
      <p:sp>
        <p:nvSpPr>
          <p:cNvPr id="5" name="Check Before You Turn footer ground">
            <a:extLst xmlns:a="http://schemas.openxmlformats.org/drawingml/2006/main">
              <a:ext uri="{FF2B5EF4-FFF2-40B4-BE49-F238E27FC236}">
                <a16:creationId xmlns:a16="http://schemas.microsoft.com/office/drawing/2014/main" id="{4F8F3561-3793-4660-9110-D84BC2E251CE}"/>
              </a:ext>
            </a:extLst>
          </p:cNvPr>
          <p:cNvSpPr>
            <a:spLocks xmlns:a="http://schemas.openxmlformats.org/drawingml/2006/main" noGrp="1"/>
          </p:cNvSpPr>
          <p:nvPr/>
        </p:nvSpPr>
        <p:spPr>
          <a:xfrm xmlns:a="http://schemas.openxmlformats.org/drawingml/2006/main">
            <a:off x="0" y="9258300"/>
            <a:ext cx="7772400" cy="8001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6" name="">
            <a:extLst xmlns:a="http://schemas.openxmlformats.org/drawingml/2006/main">
              <a:ext uri="{FF2B5EF4-FFF2-40B4-BE49-F238E27FC236}">
                <a16:creationId xmlns:a16="http://schemas.microsoft.com/office/drawing/2014/main" id="{BCA5E792-F6B2-44D9-BF33-D5477EEA6C09}"/>
              </a:ext>
            </a:extLst>
          </p:cNvPr>
          <p:cNvPicPr>
            <a:picLocks xmlns:a="http://schemas.openxmlformats.org/drawingml/2006/main" noChangeAspect="1"/>
          </p:cNvPicPr>
          <p:nvPr/>
        </p:nvPicPr>
        <p:blipFill>
          <a:blip xmlns:r="http://schemas.openxmlformats.org/officeDocument/2006/relationships" xmlns:a="http://schemas.openxmlformats.org/drawingml/2006/main" r:embed="Rc72848f2eb6747ff"/>
          <a:stretch xmlns:a="http://schemas.openxmlformats.org/drawingml/2006/main"/>
        </p:blipFill>
        <p:spPr>
          <a:xfrm xmlns:a="http://schemas.openxmlformats.org/drawingml/2006/main">
            <a:off x="497434" y="9410319"/>
            <a:ext cx="496062" cy="496062"/>
          </a:xfrm>
          <a:prstGeom xmlns:a="http://schemas.openxmlformats.org/drawingml/2006/main" prst="rect">
            <a:avLst/>
          </a:prstGeom>
        </p:spPr>
      </p:pic>
      <p:sp>
        <p:nvSpPr>
          <p:cNvPr id="7" name="QR code white quiet zone">
            <a:extLst xmlns:a="http://schemas.openxmlformats.org/drawingml/2006/main">
              <a:ext uri="{FF2B5EF4-FFF2-40B4-BE49-F238E27FC236}">
                <a16:creationId xmlns:a16="http://schemas.microsoft.com/office/drawing/2014/main" id="{388FC3E6-836A-4682-9743-20B83D865A7C}"/>
              </a:ext>
            </a:extLst>
          </p:cNvPr>
          <p:cNvSpPr>
            <a:spLocks xmlns:a="http://schemas.openxmlformats.org/drawingml/2006/main" noGrp="1"/>
          </p:cNvSpPr>
          <p:nvPr/>
        </p:nvSpPr>
        <p:spPr>
          <a:xfrm xmlns:a="http://schemas.openxmlformats.org/drawingml/2006/main">
            <a:off x="6740804" y="9343644"/>
            <a:ext cx="572262" cy="572262"/>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8" name="">
            <a:extLst xmlns:a="http://schemas.openxmlformats.org/drawingml/2006/main">
              <a:ext uri="{FF2B5EF4-FFF2-40B4-BE49-F238E27FC236}">
                <a16:creationId xmlns:a16="http://schemas.microsoft.com/office/drawing/2014/main" id="{D9AE8A8F-B91F-4003-AB70-F7AAD75BCF4C}"/>
              </a:ext>
            </a:extLst>
          </p:cNvPr>
          <p:cNvPicPr>
            <a:picLocks xmlns:a="http://schemas.openxmlformats.org/drawingml/2006/main" noChangeAspect="1"/>
          </p:cNvPicPr>
          <p:nvPr/>
        </p:nvPicPr>
        <p:blipFill>
          <a:blip xmlns:r="http://schemas.openxmlformats.org/officeDocument/2006/relationships" xmlns:a="http://schemas.openxmlformats.org/drawingml/2006/main" r:embed="Re69204bd7fcd47a6"/>
          <a:stretch xmlns:a="http://schemas.openxmlformats.org/drawingml/2006/main"/>
        </p:blipFill>
        <p:spPr>
          <a:xfrm xmlns:a="http://schemas.openxmlformats.org/drawingml/2006/main">
            <a:off x="6778904" y="9381744"/>
            <a:ext cx="496062" cy="496062"/>
          </a:xfrm>
          <a:prstGeom xmlns:a="http://schemas.openxmlformats.org/drawingml/2006/main" prst="rect">
            <a:avLst/>
          </a:prstGeom>
        </p:spPr>
      </p:pic>
      <p:sp>
        <p:nvSpPr>
          <p:cNvPr id="9" name="Check Before You Turn footer brand">
            <a:extLst xmlns:a="http://schemas.openxmlformats.org/drawingml/2006/main">
              <a:ext uri="{FF2B5EF4-FFF2-40B4-BE49-F238E27FC236}">
                <a16:creationId xmlns:a16="http://schemas.microsoft.com/office/drawing/2014/main" id="{FDF8DD3A-2DCA-40CD-92F8-18D302BB6E5A}"/>
              </a:ext>
            </a:extLst>
          </p:cNvPr>
          <p:cNvSpPr>
            <a:spLocks xmlns:a="http://schemas.openxmlformats.org/drawingml/2006/main" noGrp="1"/>
          </p:cNvSpPr>
          <p:nvPr/>
        </p:nvSpPr>
        <p:spPr>
          <a:xfrm xmlns:a="http://schemas.openxmlformats.org/drawingml/2006/main">
            <a:off x="1164946" y="9370314"/>
            <a:ext cx="5366309" cy="1760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20" b="1">
                <a:solidFill>
                  <a:srgbClr val="FFFF0A"/>
                </a:solidFill>
                <a:latin typeface="Space Grotesk"/>
                <a:ea typeface="Space Grotesk"/>
                <a:cs typeface="Space Grotesk"/>
              </a:defRPr>
            </a:defPPr>
            <a:lvl1pPr algn="l">
              <a:defRPr sz="920" b="1">
                <a:solidFill>
                  <a:srgbClr val="FFFF0A"/>
                </a:solidFill>
                <a:latin typeface="Space Grotesk"/>
                <a:ea typeface="Space Grotesk"/>
                <a:cs typeface="Space Grotesk"/>
              </a:defRPr>
            </a:lvl1pPr>
            <a:lvl2pPr algn="l">
              <a:defRPr sz="920" b="1">
                <a:solidFill>
                  <a:srgbClr val="FFFF0A"/>
                </a:solidFill>
                <a:latin typeface="Space Grotesk"/>
                <a:ea typeface="Space Grotesk"/>
                <a:cs typeface="Space Grotesk"/>
              </a:defRPr>
            </a:lvl2pPr>
            <a:lvl3pPr algn="l">
              <a:defRPr sz="920" b="1">
                <a:solidFill>
                  <a:srgbClr val="FFFF0A"/>
                </a:solidFill>
                <a:latin typeface="Space Grotesk"/>
                <a:ea typeface="Space Grotesk"/>
                <a:cs typeface="Space Grotesk"/>
              </a:defRPr>
            </a:lvl3pPr>
            <a:lvl4pPr algn="l">
              <a:defRPr sz="920" b="1">
                <a:solidFill>
                  <a:srgbClr val="FFFF0A"/>
                </a:solidFill>
                <a:latin typeface="Space Grotesk"/>
                <a:ea typeface="Space Grotesk"/>
                <a:cs typeface="Space Grotesk"/>
              </a:defRPr>
            </a:lvl4pPr>
            <a:lvl5pPr algn="l">
              <a:defRPr sz="920" b="1">
                <a:solidFill>
                  <a:srgbClr val="FFFF0A"/>
                </a:solidFill>
                <a:latin typeface="Space Grotesk"/>
                <a:ea typeface="Space Grotesk"/>
                <a:cs typeface="Space Grotesk"/>
              </a:defRPr>
            </a:lvl5pPr>
            <a:lvl6pPr algn="l">
              <a:defRPr sz="920" b="1">
                <a:solidFill>
                  <a:srgbClr val="FFFF0A"/>
                </a:solidFill>
                <a:latin typeface="Space Grotesk"/>
                <a:ea typeface="Space Grotesk"/>
                <a:cs typeface="Space Grotesk"/>
              </a:defRPr>
            </a:lvl6pPr>
            <a:lvl7pPr algn="l">
              <a:defRPr sz="920" b="1">
                <a:solidFill>
                  <a:srgbClr val="FFFF0A"/>
                </a:solidFill>
                <a:latin typeface="Space Grotesk"/>
                <a:ea typeface="Space Grotesk"/>
                <a:cs typeface="Space Grotesk"/>
              </a:defRPr>
            </a:lvl7pPr>
            <a:lvl8pPr algn="l">
              <a:defRPr sz="920" b="1">
                <a:solidFill>
                  <a:srgbClr val="FFFF0A"/>
                </a:solidFill>
                <a:latin typeface="Space Grotesk"/>
                <a:ea typeface="Space Grotesk"/>
                <a:cs typeface="Space Grotesk"/>
              </a:defRPr>
            </a:lvl8pPr>
            <a:lvl9pPr algn="l">
              <a:defRPr sz="920" b="1">
                <a:solidFill>
                  <a:srgbClr val="FFFF0A"/>
                </a:solidFill>
                <a:latin typeface="Space Grotesk"/>
                <a:ea typeface="Space Grotesk"/>
                <a:cs typeface="Space Grotesk"/>
              </a:defRPr>
            </a:lvl9pPr>
          </a:lstStyle>
          <a:p xmlns:a="http://schemas.openxmlformats.org/drawingml/2006/main">
            <a:pPr algn="l">
              <a:lnSpc>
                <a:spcPct val="100000"/>
              </a:lnSpc>
              <a:buNone/>
              <a:defRPr sz="920" b="1">
                <a:solidFill>
                  <a:srgbClr val="FFFF0A"/>
                </a:solidFill>
                <a:latin typeface="Space Grotesk"/>
                <a:ea typeface="Space Grotesk"/>
                <a:cs typeface="Space Grotesk"/>
              </a:defRPr>
            </a:pPr>
            <a:r>
              <a:rPr sz="920" b="1">
                <a:solidFill>
                  <a:srgbClr val="FFFF0A"/>
                </a:solidFill>
                <a:latin typeface="Space Grotesk"/>
                <a:ea typeface="Space Grotesk"/>
                <a:cs typeface="Space Grotesk"/>
              </a:rPr>
              <a:t>3 FEET PLEASE</a:t>
            </a:r>
          </a:p>
        </p:txBody>
      </p:sp>
      <p:sp>
        <p:nvSpPr>
          <p:cNvPr id="10" name="Check Before You Turn footer campaign line">
            <a:extLst xmlns:a="http://schemas.openxmlformats.org/drawingml/2006/main">
              <a:ext uri="{FF2B5EF4-FFF2-40B4-BE49-F238E27FC236}">
                <a16:creationId xmlns:a16="http://schemas.microsoft.com/office/drawing/2014/main" id="{FEE0F07B-A699-4B76-B5A6-B1253DC516E6}"/>
              </a:ext>
            </a:extLst>
          </p:cNvPr>
          <p:cNvSpPr>
            <a:spLocks xmlns:a="http://schemas.openxmlformats.org/drawingml/2006/main" noGrp="1"/>
          </p:cNvSpPr>
          <p:nvPr/>
        </p:nvSpPr>
        <p:spPr>
          <a:xfrm xmlns:a="http://schemas.openxmlformats.org/drawingml/2006/main">
            <a:off x="1164946" y="9570339"/>
            <a:ext cx="5366309" cy="18402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Arial"/>
                <a:ea typeface="Arial"/>
                <a:cs typeface="Arial"/>
              </a:defRPr>
            </a:defPPr>
            <a:lvl1pPr algn="l">
              <a:defRPr sz="900" b="1">
                <a:solidFill>
                  <a:srgbClr val="FFFFFF"/>
                </a:solidFill>
                <a:latin typeface="Arial"/>
                <a:ea typeface="Arial"/>
                <a:cs typeface="Arial"/>
              </a:defRPr>
            </a:lvl1pPr>
            <a:lvl2pPr algn="l">
              <a:defRPr sz="900" b="1">
                <a:solidFill>
                  <a:srgbClr val="FFFFFF"/>
                </a:solidFill>
                <a:latin typeface="Arial"/>
                <a:ea typeface="Arial"/>
                <a:cs typeface="Arial"/>
              </a:defRPr>
            </a:lvl2pPr>
            <a:lvl3pPr algn="l">
              <a:defRPr sz="900" b="1">
                <a:solidFill>
                  <a:srgbClr val="FFFFFF"/>
                </a:solidFill>
                <a:latin typeface="Arial"/>
                <a:ea typeface="Arial"/>
                <a:cs typeface="Arial"/>
              </a:defRPr>
            </a:lvl3pPr>
            <a:lvl4pPr algn="l">
              <a:defRPr sz="900" b="1">
                <a:solidFill>
                  <a:srgbClr val="FFFFFF"/>
                </a:solidFill>
                <a:latin typeface="Arial"/>
                <a:ea typeface="Arial"/>
                <a:cs typeface="Arial"/>
              </a:defRPr>
            </a:lvl4pPr>
            <a:lvl5pPr algn="l">
              <a:defRPr sz="900" b="1">
                <a:solidFill>
                  <a:srgbClr val="FFFFFF"/>
                </a:solidFill>
                <a:latin typeface="Arial"/>
                <a:ea typeface="Arial"/>
                <a:cs typeface="Arial"/>
              </a:defRPr>
            </a:lvl5pPr>
            <a:lvl6pPr algn="l">
              <a:defRPr sz="900" b="1">
                <a:solidFill>
                  <a:srgbClr val="FFFFFF"/>
                </a:solidFill>
                <a:latin typeface="Arial"/>
                <a:ea typeface="Arial"/>
                <a:cs typeface="Arial"/>
              </a:defRPr>
            </a:lvl6pPr>
            <a:lvl7pPr algn="l">
              <a:defRPr sz="900" b="1">
                <a:solidFill>
                  <a:srgbClr val="FFFFFF"/>
                </a:solidFill>
                <a:latin typeface="Arial"/>
                <a:ea typeface="Arial"/>
                <a:cs typeface="Arial"/>
              </a:defRPr>
            </a:lvl7pPr>
            <a:lvl8pPr algn="l">
              <a:defRPr sz="900" b="1">
                <a:solidFill>
                  <a:srgbClr val="FFFFFF"/>
                </a:solidFill>
                <a:latin typeface="Arial"/>
                <a:ea typeface="Arial"/>
                <a:cs typeface="Arial"/>
              </a:defRPr>
            </a:lvl8pPr>
            <a:lvl9pPr algn="l">
              <a:defRPr sz="900" b="1">
                <a:solidFill>
                  <a:srgbClr val="FFFFFF"/>
                </a:solidFill>
                <a:latin typeface="Arial"/>
                <a:ea typeface="Arial"/>
                <a:cs typeface="Arial"/>
              </a:defRPr>
            </a:lvl9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People on bikes deserve space.</a:t>
            </a:r>
          </a:p>
        </p:txBody>
      </p:sp>
      <p:sp>
        <p:nvSpPr>
          <p:cNvPr id="11" name="Check Before You Turn footer website">
            <a:extLst xmlns:a="http://schemas.openxmlformats.org/drawingml/2006/main">
              <a:ext uri="{FF2B5EF4-FFF2-40B4-BE49-F238E27FC236}">
                <a16:creationId xmlns:a16="http://schemas.microsoft.com/office/drawing/2014/main" id="{443EE603-47FF-4D7F-A5F7-86C86FEB4622}"/>
              </a:ext>
            </a:extLst>
          </p:cNvPr>
          <p:cNvSpPr>
            <a:spLocks xmlns:a="http://schemas.openxmlformats.org/drawingml/2006/main" noGrp="1"/>
          </p:cNvSpPr>
          <p:nvPr/>
        </p:nvSpPr>
        <p:spPr>
          <a:xfrm xmlns:a="http://schemas.openxmlformats.org/drawingml/2006/main">
            <a:off x="1164946" y="9778365"/>
            <a:ext cx="5366309" cy="18402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Arial"/>
                <a:ea typeface="Arial"/>
                <a:cs typeface="Arial"/>
              </a:defRPr>
            </a:defPPr>
            <a:lvl1pPr algn="l">
              <a:defRPr sz="900" b="1">
                <a:solidFill>
                  <a:srgbClr val="FFFFFF"/>
                </a:solidFill>
                <a:latin typeface="Arial"/>
                <a:ea typeface="Arial"/>
                <a:cs typeface="Arial"/>
              </a:defRPr>
            </a:lvl1pPr>
            <a:lvl2pPr algn="l">
              <a:defRPr sz="900" b="1">
                <a:solidFill>
                  <a:srgbClr val="FFFFFF"/>
                </a:solidFill>
                <a:latin typeface="Arial"/>
                <a:ea typeface="Arial"/>
                <a:cs typeface="Arial"/>
              </a:defRPr>
            </a:lvl2pPr>
            <a:lvl3pPr algn="l">
              <a:defRPr sz="900" b="1">
                <a:solidFill>
                  <a:srgbClr val="FFFFFF"/>
                </a:solidFill>
                <a:latin typeface="Arial"/>
                <a:ea typeface="Arial"/>
                <a:cs typeface="Arial"/>
              </a:defRPr>
            </a:lvl3pPr>
            <a:lvl4pPr algn="l">
              <a:defRPr sz="900" b="1">
                <a:solidFill>
                  <a:srgbClr val="FFFFFF"/>
                </a:solidFill>
                <a:latin typeface="Arial"/>
                <a:ea typeface="Arial"/>
                <a:cs typeface="Arial"/>
              </a:defRPr>
            </a:lvl4pPr>
            <a:lvl5pPr algn="l">
              <a:defRPr sz="900" b="1">
                <a:solidFill>
                  <a:srgbClr val="FFFFFF"/>
                </a:solidFill>
                <a:latin typeface="Arial"/>
                <a:ea typeface="Arial"/>
                <a:cs typeface="Arial"/>
              </a:defRPr>
            </a:lvl5pPr>
            <a:lvl6pPr algn="l">
              <a:defRPr sz="900" b="1">
                <a:solidFill>
                  <a:srgbClr val="FFFFFF"/>
                </a:solidFill>
                <a:latin typeface="Arial"/>
                <a:ea typeface="Arial"/>
                <a:cs typeface="Arial"/>
              </a:defRPr>
            </a:lvl6pPr>
            <a:lvl7pPr algn="l">
              <a:defRPr sz="900" b="1">
                <a:solidFill>
                  <a:srgbClr val="FFFFFF"/>
                </a:solidFill>
                <a:latin typeface="Arial"/>
                <a:ea typeface="Arial"/>
                <a:cs typeface="Arial"/>
              </a:defRPr>
            </a:lvl7pPr>
            <a:lvl8pPr algn="l">
              <a:defRPr sz="900" b="1">
                <a:solidFill>
                  <a:srgbClr val="FFFFFF"/>
                </a:solidFill>
                <a:latin typeface="Arial"/>
                <a:ea typeface="Arial"/>
                <a:cs typeface="Arial"/>
              </a:defRPr>
            </a:lvl8pPr>
            <a:lvl9pPr algn="l">
              <a:defRPr sz="900" b="1">
                <a:solidFill>
                  <a:srgbClr val="FFFFFF"/>
                </a:solidFill>
                <a:latin typeface="Arial"/>
                <a:ea typeface="Arial"/>
                <a:cs typeface="Arial"/>
              </a:defRPr>
            </a:lvl9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Find groups and rides at 3fp.org.</a:t>
            </a:r>
          </a:p>
        </p:txBody>
      </p:sp>
    </p:spTree>
    <p:extLst>
      <p:ext uri="{BB962C8B-B14F-4D97-AF65-F5344CB8AC3E}">
        <p14:creationId xmlns:p14="http://schemas.microsoft.com/office/powerpoint/2010/main" val="3017424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2026-10-29T13:45:11.7810000Z</dcterms:created>
  <dcterms:modified xsi:type="dcterms:W3CDTF">2026-10-29T13:45:11.7810000Z</dcterms:modified>
</coreProperties>
</file>