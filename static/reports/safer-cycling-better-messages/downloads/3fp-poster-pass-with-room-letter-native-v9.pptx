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df7ee274064573" /><Relationship Type="http://schemas.openxmlformats.org/officeDocument/2006/relationships/extended-properties" Target="/docProps/app.xml" Id="R522ab2f76b6841e4" /><Relationship Type="http://schemas.openxmlformats.org/officeDocument/2006/relationships/officeDocument" Target="/ppt/presentation.xml" Id="R70818915b2cf4c1f" /></Relationships>
</file>

<file path=ppt/presentation.xml><?xml version="1.0" encoding="utf-8"?>
<p:presentation xmlns:p="http://schemas.openxmlformats.org/presentationml/2006/main">
  <p:sldMasterIdLst>
    <p:sldMasterId xmlns:r="http://schemas.openxmlformats.org/officeDocument/2006/relationships" id="2147483648" r:id="R5ab3a60dd97c4609"/>
  </p:sldMasterIdLst>
  <p:notesMasterIdLst>
    <p:notesMasterId xmlns:r="http://schemas.openxmlformats.org/officeDocument/2006/relationships" r:id="Rbe8f5af3a01841b7"/>
  </p:notesMasterIdLst>
  <p:sldIdLst>
    <p:sldId xmlns:r="http://schemas.openxmlformats.org/officeDocument/2006/relationships" id="256" r:id="Rd12678f0ffa54341"/>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4028faf79b4f37" /><Relationship Type="http://schemas.openxmlformats.org/officeDocument/2006/relationships/slideMaster" Target="/ppt/slideMasters/slideMaster1.xml" Id="R5ab3a60dd97c4609" /><Relationship Type="http://schemas.openxmlformats.org/officeDocument/2006/relationships/notesMaster" Target="/ppt/notesMasters/notesMaster1.xml" Id="Rbe8f5af3a01841b7" /><Relationship Type="http://schemas.openxmlformats.org/officeDocument/2006/relationships/presProps" Target="/ppt/presProps.xml" Id="R6a20ed97bb114882" /><Relationship Type="http://schemas.openxmlformats.org/officeDocument/2006/relationships/tableStyles" Target="/ppt/tableStyles.xml" Id="R07087a42c20e4f9f" /><Relationship Type="http://schemas.openxmlformats.org/officeDocument/2006/relationships/slide" Target="/ppt/slides/slide1.xml" Id="Rd12678f0ffa543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fd37b349af41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8aa4af126c498f" /><Relationship Type="http://schemas.openxmlformats.org/officeDocument/2006/relationships/notesMaster" Target="/ppt/notesMasters/notesMaster1.xml" Id="R3a9b7aef2fe146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Poster: Pass with Room. This exact creative is an untested campaign hypothesis using specific guideline-based actions, not a demonstrated crash-reduction intervention. Campaign artwork is an original generated illustration. QR code opens the 3 Feet Please homepage.</a:t>
            </a:r>
          </a:p>
          <a:p xmlns:a="http://schemas.openxmlformats.org/drawingml/2006/main">
            <a:r>
              <a:t>VERSION REVIEW: v8 local edition; reviewed 2026-10-22. Exact 3FP message/artwork remains untested.</a:t>
            </a:r>
          </a:p>
          <a:p xmlns:a="http://schemas.openxmlformats.org/drawingml/2006/main">
            <a:r>
              <a:t>Emotional copy: “A mother’s riding home. Give her room.” is a creative proposal informed by audience and behavior guidance. The exact print copy is untested and has not demonstrated crash reduction or crash prevention.</a:t>
            </a:r>
          </a:p>
          <a:p xmlns:a="http://schemas.openxmlformats.org/drawingml/2006/main">
            <a:r>
              <a:t>Evidence and endpoint: the exact poster is untested; NHTSA provides practice guidance, while adjacent passing and door/turn studies do not test this artwork or establish a poster effect. Passing endpoint: pretest the wait/room action; a driving-behavior claim needs safe observation, baseline, and comparison.</a:t>
            </a:r>
          </a:p>
          <a:p xmlns:a="http://schemas.openxmlformats.org/drawingml/2006/main">
            <a:r>
              <a:t>Practitioner delivery: place where the intended driver audience can pause to read. Use the local passing law and an accurate jurisdiction-specific discussion; do not expose people to hazardous traffic for evaluation.</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NHTSA Cycling Skills Clinic Guide: https://www.nhtsa.gov/document/cycling-skills-clinic-guide</a:t>
            </a:r>
          </a:p>
          <a:p xmlns:a="http://schemas.openxmlformats.org/drawingml/2006/main">
            <a:r>
              <a:t>NHTSA Bicycle Safety: https://www.nhtsa.gov/road-safety/bicycle-safety</a:t>
            </a:r>
          </a:p>
          <a:p xmlns:a="http://schemas.openxmlformats.org/drawingml/2006/main">
            <a:r>
              <a:t>QR code destination: https://3fp.org</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8f7440575646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b0efafc69548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839c0a511c4c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c57f9960274f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a052c64d1f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2531fb42b849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C2C74D-C1E1-490F-935D-DBAE4070DA99}"/>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A8687E3-5624-4451-B9B3-96DE039D01DA}"/>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86A7D9-177A-447B-B0DC-99E717746393}"/>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19657B-01F0-41F5-8567-A53ECEACB2EC}"/>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3B1F21-40DC-4945-97CD-63086A7FC3F7}"/>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1028DC5-4FFE-423A-8675-9B0800CE27EF}"/>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151167-775B-4333-8AD1-7A4A503B8A73}"/>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A92ACAA-C1E0-4BC1-BB53-3DE4829D4F72}"/>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8F5E27-8FF5-4C57-B3BD-D17FAC5B843F}"/>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14AD0F-E460-4948-999A-0D6D14149F29}"/>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14568dcb774b51" /><Relationship Type="http://schemas.openxmlformats.org/officeDocument/2006/relationships/slideLayout" Target="/ppt/slideLayouts/slideLayout1.xml" Id="R8adbd009855849d8" /><Relationship Type="http://schemas.openxmlformats.org/officeDocument/2006/relationships/slideLayout" Target="/ppt/slideLayouts/slideLayout2.xml" Id="Re9ad023b67ad4c8e" /><Relationship Type="http://schemas.openxmlformats.org/officeDocument/2006/relationships/slideLayout" Target="/ppt/slideLayouts/slideLayout3.xml" Id="R5d2a1db7bc224672" /><Relationship Type="http://schemas.openxmlformats.org/officeDocument/2006/relationships/slideLayout" Target="/ppt/slideLayouts/slideLayout4.xml" Id="R25361522a5084d4f" /><Relationship Type="http://schemas.openxmlformats.org/officeDocument/2006/relationships/slideLayout" Target="/ppt/slideLayouts/slideLayout5.xml" Id="R1f62fb06bbe64644" /><Relationship Type="http://schemas.openxmlformats.org/officeDocument/2006/relationships/slideLayout" Target="/ppt/slideLayouts/slideLayout6.xml" Id="R21174a32e8cf48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dbd009855849d8"/>
    <p:sldLayoutId xmlns:r="http://schemas.openxmlformats.org/officeDocument/2006/relationships" id="2147483650" r:id="Re9ad023b67ad4c8e"/>
    <p:sldLayoutId xmlns:r="http://schemas.openxmlformats.org/officeDocument/2006/relationships" id="2147483651" r:id="R5d2a1db7bc224672"/>
    <p:sldLayoutId xmlns:r="http://schemas.openxmlformats.org/officeDocument/2006/relationships" id="2147483652" r:id="R25361522a5084d4f"/>
    <p:sldLayoutId xmlns:r="http://schemas.openxmlformats.org/officeDocument/2006/relationships" id="2147483653" r:id="R1f62fb06bbe64644"/>
    <p:sldLayoutId xmlns:r="http://schemas.openxmlformats.org/officeDocument/2006/relationships" id="2147483654" r:id="R21174a32e8cf48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c22d0b0cb4f466b" /><Relationship Type="http://schemas.openxmlformats.org/officeDocument/2006/relationships/image" Target="/ppt/media/image.png" Id="R579cf21bfd2e44b5" /><Relationship Type="http://schemas.openxmlformats.org/officeDocument/2006/relationships/image" Target="/ppt/media/image2.png" Id="R293ce6814dfd4d1d" /><Relationship Type="http://schemas.openxmlformats.org/officeDocument/2006/relationships/image" Target="/ppt/media/image3.png" Id="Rfa0c6d92173f4133" /><Relationship Type="http://schemas.openxmlformats.org/officeDocument/2006/relationships/notesSlide" Target="/ppt/notesSlides/notesSlide1.xml" Id="R92c1d9d52525468c"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9D43914-75AC-43D0-A890-F76E635672BE}"/>
              </a:ext>
            </a:extLst>
          </p:cNvPr>
          <p:cNvPicPr>
            <a:picLocks xmlns:a="http://schemas.openxmlformats.org/drawingml/2006/main" noChangeAspect="1"/>
          </p:cNvPicPr>
          <p:nvPr/>
        </p:nvPicPr>
        <p:blipFill>
          <a:blip xmlns:r="http://schemas.openxmlformats.org/officeDocument/2006/relationships" xmlns:a="http://schemas.openxmlformats.org/drawingml/2006/main" r:embed="R579cf21bfd2e44b5"/>
          <a:srcRect xmlns:a="http://schemas.openxmlformats.org/drawingml/2006/main" l="0" t="6863" r="0" b="6863"/>
          <a:stretch xmlns:a="http://schemas.openxmlformats.org/drawingml/2006/main">
            <a:fillRect l="0" t="0" r="0" b="0"/>
          </a:stretch>
        </p:blipFill>
        <p:spPr>
          <a:xfrm xmlns:a="http://schemas.openxmlformats.org/drawingml/2006/main">
            <a:off x="0" y="0"/>
            <a:ext cx="7772400" cy="10058400"/>
          </a:xfrm>
          <a:prstGeom xmlns:a="http://schemas.openxmlformats.org/drawingml/2006/main" prst="rect">
            <a:avLst/>
          </a:prstGeom>
        </p:spPr>
      </p:pic>
      <p:sp>
        <p:nvSpPr>
          <p:cNvPr id="2" name="Pass with Room cream headline ground">
            <a:extLst xmlns:a="http://schemas.openxmlformats.org/drawingml/2006/main">
              <a:ext uri="{FF2B5EF4-FFF2-40B4-BE49-F238E27FC236}">
                <a16:creationId xmlns:a16="http://schemas.microsoft.com/office/drawing/2014/main" id="{63DBF776-ADB3-4954-9AA7-40FDF096821F}"/>
              </a:ext>
            </a:extLst>
          </p:cNvPr>
          <p:cNvSpPr>
            <a:spLocks xmlns:a="http://schemas.openxmlformats.org/drawingml/2006/main" noGrp="1"/>
          </p:cNvSpPr>
          <p:nvPr/>
        </p:nvSpPr>
        <p:spPr>
          <a:xfrm xmlns:a="http://schemas.openxmlformats.org/drawingml/2006/main">
            <a:off x="0" y="0"/>
            <a:ext cx="7772400" cy="3017520"/>
          </a:xfrm>
          <a:prstGeom xmlns:a="http://schemas.openxmlformats.org/drawingml/2006/main" prst="rect">
            <a:avLst/>
          </a:prstGeom>
          <a:solidFill xmlns:a="http://schemas.openxmlformats.org/drawingml/2006/main">
            <a:srgbClr val="FFF3DF">
              <a:alpha val="94000"/>
            </a:srgbClr>
          </a:solidFill>
          <a:ln xmlns:a="http://schemas.openxmlformats.org/drawingml/2006/main" w="0">
            <a:noFill/>
            <a:prstDash val="solid"/>
          </a:ln>
        </p:spPr>
      </p:sp>
      <p:sp>
        <p:nvSpPr>
          <p:cNvPr id="3" name="Pass with Room headline accent">
            <a:extLst xmlns:a="http://schemas.openxmlformats.org/drawingml/2006/main">
              <a:ext uri="{FF2B5EF4-FFF2-40B4-BE49-F238E27FC236}">
                <a16:creationId xmlns:a16="http://schemas.microsoft.com/office/drawing/2014/main" id="{F7A3AB51-2492-4401-9B45-678BC8186B63}"/>
              </a:ext>
            </a:extLst>
          </p:cNvPr>
          <p:cNvSpPr>
            <a:spLocks xmlns:a="http://schemas.openxmlformats.org/drawingml/2006/main" noGrp="1"/>
          </p:cNvSpPr>
          <p:nvPr/>
        </p:nvSpPr>
        <p:spPr>
          <a:xfrm xmlns:a="http://schemas.openxmlformats.org/drawingml/2006/main">
            <a:off x="497434" y="191110"/>
            <a:ext cx="582930" cy="6035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 name="Pass with Room editable headline">
            <a:extLst xmlns:a="http://schemas.openxmlformats.org/drawingml/2006/main">
              <a:ext uri="{FF2B5EF4-FFF2-40B4-BE49-F238E27FC236}">
                <a16:creationId xmlns:a16="http://schemas.microsoft.com/office/drawing/2014/main" id="{4200D8E2-39BC-481A-94A7-59DAA26FA64C}"/>
              </a:ext>
            </a:extLst>
          </p:cNvPr>
          <p:cNvSpPr>
            <a:spLocks xmlns:a="http://schemas.openxmlformats.org/drawingml/2006/main" noGrp="1"/>
          </p:cNvSpPr>
          <p:nvPr/>
        </p:nvSpPr>
        <p:spPr>
          <a:xfrm xmlns:a="http://schemas.openxmlformats.org/drawingml/2006/main">
            <a:off x="497434" y="352044"/>
            <a:ext cx="6777533" cy="140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a:solidFill>
                  <a:srgbClr val="7926CB"/>
                </a:solidFill>
                <a:latin typeface="Space Grotesk"/>
                <a:ea typeface="Space Grotesk"/>
                <a:cs typeface="Space Grotesk"/>
              </a:defRPr>
            </a:defPPr>
            <a:lvl1pPr algn="l">
              <a:defRPr sz="2300" b="1">
                <a:solidFill>
                  <a:srgbClr val="7926CB"/>
                </a:solidFill>
                <a:latin typeface="Space Grotesk"/>
                <a:ea typeface="Space Grotesk"/>
                <a:cs typeface="Space Grotesk"/>
              </a:defRPr>
            </a:lvl1pPr>
            <a:lvl2pPr algn="l">
              <a:defRPr sz="2300" b="1">
                <a:solidFill>
                  <a:srgbClr val="7926CB"/>
                </a:solidFill>
                <a:latin typeface="Space Grotesk"/>
                <a:ea typeface="Space Grotesk"/>
                <a:cs typeface="Space Grotesk"/>
              </a:defRPr>
            </a:lvl2pPr>
            <a:lvl3pPr algn="l">
              <a:defRPr sz="2300" b="1">
                <a:solidFill>
                  <a:srgbClr val="7926CB"/>
                </a:solidFill>
                <a:latin typeface="Space Grotesk"/>
                <a:ea typeface="Space Grotesk"/>
                <a:cs typeface="Space Grotesk"/>
              </a:defRPr>
            </a:lvl3pPr>
            <a:lvl4pPr algn="l">
              <a:defRPr sz="2300" b="1">
                <a:solidFill>
                  <a:srgbClr val="7926CB"/>
                </a:solidFill>
                <a:latin typeface="Space Grotesk"/>
                <a:ea typeface="Space Grotesk"/>
                <a:cs typeface="Space Grotesk"/>
              </a:defRPr>
            </a:lvl4pPr>
            <a:lvl5pPr algn="l">
              <a:defRPr sz="2300" b="1">
                <a:solidFill>
                  <a:srgbClr val="7926CB"/>
                </a:solidFill>
                <a:latin typeface="Space Grotesk"/>
                <a:ea typeface="Space Grotesk"/>
                <a:cs typeface="Space Grotesk"/>
              </a:defRPr>
            </a:lvl5pPr>
            <a:lvl6pPr algn="l">
              <a:defRPr sz="2300" b="1">
                <a:solidFill>
                  <a:srgbClr val="7926CB"/>
                </a:solidFill>
                <a:latin typeface="Space Grotesk"/>
                <a:ea typeface="Space Grotesk"/>
                <a:cs typeface="Space Grotesk"/>
              </a:defRPr>
            </a:lvl6pPr>
            <a:lvl7pPr algn="l">
              <a:defRPr sz="2300" b="1">
                <a:solidFill>
                  <a:srgbClr val="7926CB"/>
                </a:solidFill>
                <a:latin typeface="Space Grotesk"/>
                <a:ea typeface="Space Grotesk"/>
                <a:cs typeface="Space Grotesk"/>
              </a:defRPr>
            </a:lvl7pPr>
            <a:lvl8pPr algn="l">
              <a:defRPr sz="2300" b="1">
                <a:solidFill>
                  <a:srgbClr val="7926CB"/>
                </a:solidFill>
                <a:latin typeface="Space Grotesk"/>
                <a:ea typeface="Space Grotesk"/>
                <a:cs typeface="Space Grotesk"/>
              </a:defRPr>
            </a:lvl8pPr>
            <a:lvl9pPr algn="l">
              <a:defRPr sz="2300" b="1">
                <a:solidFill>
                  <a:srgbClr val="7926CB"/>
                </a:solidFill>
                <a:latin typeface="Space Grotesk"/>
                <a:ea typeface="Space Grotesk"/>
                <a:cs typeface="Space Grotesk"/>
              </a:defRPr>
            </a:lvl9pPr>
          </a:lstStyle>
          <a:p xmlns:a="http://schemas.openxmlformats.org/drawingml/2006/main">
            <a:pPr algn="l">
              <a:lnSpc>
                <a:spcPct val="95000"/>
              </a:lnSpc>
              <a:buNone/>
              <a:defRPr sz="2300" b="1">
                <a:solidFill>
                  <a:srgbClr val="7926CB"/>
                </a:solidFill>
                <a:latin typeface="Space Grotesk"/>
                <a:ea typeface="Space Grotesk"/>
                <a:cs typeface="Space Grotesk"/>
              </a:defRPr>
            </a:pPr>
            <a:r>
              <a:rPr sz="2300" b="1">
                <a:solidFill>
                  <a:srgbClr val="7926CB"/>
                </a:solidFill>
                <a:latin typeface="Space Grotesk"/>
                <a:ea typeface="Space Grotesk"/>
                <a:cs typeface="Space Grotesk"/>
              </a:rPr>
              <a:t>WHEN IT IS SAFE,</a:t>
            </a:r>
          </a:p>
          <a:p xmlns:a="http://schemas.openxmlformats.org/drawingml/2006/main">
            <a:pPr algn="l">
              <a:lnSpc>
                <a:spcPct val="95000"/>
              </a:lnSpc>
              <a:buNone/>
              <a:defRPr sz="2300" b="1">
                <a:solidFill>
                  <a:srgbClr val="7926CB"/>
                </a:solidFill>
                <a:latin typeface="Space Grotesk"/>
                <a:ea typeface="Space Grotesk"/>
                <a:cs typeface="Space Grotesk"/>
              </a:defRPr>
            </a:pPr>
            <a:r>
              <a:rPr sz="2300" b="1">
                <a:solidFill>
                  <a:srgbClr val="7926CB"/>
                </a:solidFill>
                <a:latin typeface="Space Grotesk"/>
                <a:ea typeface="Space Grotesk"/>
                <a:cs typeface="Space Grotesk"/>
              </a:rPr>
              <a:t>PASS WITH ROOM.</a:t>
            </a:r>
          </a:p>
        </p:txBody>
      </p:sp>
      <p:sp>
        <p:nvSpPr>
          <p:cNvPr id="5" name="Pass with Room editable action">
            <a:extLst xmlns:a="http://schemas.openxmlformats.org/drawingml/2006/main">
              <a:ext uri="{FF2B5EF4-FFF2-40B4-BE49-F238E27FC236}">
                <a16:creationId xmlns:a16="http://schemas.microsoft.com/office/drawing/2014/main" id="{A832D08D-9743-4D7F-9D87-F8F5CD000682}"/>
              </a:ext>
            </a:extLst>
          </p:cNvPr>
          <p:cNvSpPr>
            <a:spLocks xmlns:a="http://schemas.openxmlformats.org/drawingml/2006/main" noGrp="1"/>
          </p:cNvSpPr>
          <p:nvPr/>
        </p:nvSpPr>
        <p:spPr>
          <a:xfrm xmlns:a="http://schemas.openxmlformats.org/drawingml/2006/main">
            <a:off x="506959" y="1911096"/>
            <a:ext cx="6758483" cy="905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50" b="1">
                <a:solidFill>
                  <a:srgbClr val="23143A"/>
                </a:solidFill>
                <a:latin typeface="Arial"/>
                <a:ea typeface="Arial"/>
                <a:cs typeface="Arial"/>
              </a:defRPr>
            </a:defPPr>
            <a:lvl1pPr algn="l">
              <a:defRPr sz="1550" b="1">
                <a:solidFill>
                  <a:srgbClr val="23143A"/>
                </a:solidFill>
                <a:latin typeface="Arial"/>
                <a:ea typeface="Arial"/>
                <a:cs typeface="Arial"/>
              </a:defRPr>
            </a:lvl1pPr>
            <a:lvl2pPr algn="l">
              <a:defRPr sz="1550" b="1">
                <a:solidFill>
                  <a:srgbClr val="23143A"/>
                </a:solidFill>
                <a:latin typeface="Arial"/>
                <a:ea typeface="Arial"/>
                <a:cs typeface="Arial"/>
              </a:defRPr>
            </a:lvl2pPr>
            <a:lvl3pPr algn="l">
              <a:defRPr sz="1550" b="1">
                <a:solidFill>
                  <a:srgbClr val="23143A"/>
                </a:solidFill>
                <a:latin typeface="Arial"/>
                <a:ea typeface="Arial"/>
                <a:cs typeface="Arial"/>
              </a:defRPr>
            </a:lvl3pPr>
            <a:lvl4pPr algn="l">
              <a:defRPr sz="1550" b="1">
                <a:solidFill>
                  <a:srgbClr val="23143A"/>
                </a:solidFill>
                <a:latin typeface="Arial"/>
                <a:ea typeface="Arial"/>
                <a:cs typeface="Arial"/>
              </a:defRPr>
            </a:lvl4pPr>
            <a:lvl5pPr algn="l">
              <a:defRPr sz="1550" b="1">
                <a:solidFill>
                  <a:srgbClr val="23143A"/>
                </a:solidFill>
                <a:latin typeface="Arial"/>
                <a:ea typeface="Arial"/>
                <a:cs typeface="Arial"/>
              </a:defRPr>
            </a:lvl5pPr>
            <a:lvl6pPr algn="l">
              <a:defRPr sz="1550" b="1">
                <a:solidFill>
                  <a:srgbClr val="23143A"/>
                </a:solidFill>
                <a:latin typeface="Arial"/>
                <a:ea typeface="Arial"/>
                <a:cs typeface="Arial"/>
              </a:defRPr>
            </a:lvl6pPr>
            <a:lvl7pPr algn="l">
              <a:defRPr sz="1550" b="1">
                <a:solidFill>
                  <a:srgbClr val="23143A"/>
                </a:solidFill>
                <a:latin typeface="Arial"/>
                <a:ea typeface="Arial"/>
                <a:cs typeface="Arial"/>
              </a:defRPr>
            </a:lvl7pPr>
            <a:lvl8pPr algn="l">
              <a:defRPr sz="1550" b="1">
                <a:solidFill>
                  <a:srgbClr val="23143A"/>
                </a:solidFill>
                <a:latin typeface="Arial"/>
                <a:ea typeface="Arial"/>
                <a:cs typeface="Arial"/>
              </a:defRPr>
            </a:lvl8pPr>
            <a:lvl9pPr algn="l">
              <a:defRPr sz="1550" b="1">
                <a:solidFill>
                  <a:srgbClr val="23143A"/>
                </a:solidFill>
                <a:latin typeface="Arial"/>
                <a:ea typeface="Arial"/>
                <a:cs typeface="Arial"/>
              </a:defRPr>
            </a:lvl9pPr>
          </a:lstStyle>
          <a:p xmlns:a="http://schemas.openxmlformats.org/drawingml/2006/main">
            <a:pPr algn="l">
              <a:lnSpc>
                <a:spcPct val="100000"/>
              </a:lnSpc>
              <a:buNone/>
              <a:defRPr sz="1550" b="1">
                <a:solidFill>
                  <a:srgbClr val="23143A"/>
                </a:solidFill>
                <a:latin typeface="Arial"/>
                <a:ea typeface="Arial"/>
                <a:cs typeface="Arial"/>
              </a:defRPr>
            </a:pPr>
            <a:r>
              <a:rPr sz="1550" b="1">
                <a:solidFill>
                  <a:srgbClr val="23143A"/>
                </a:solidFill>
                <a:latin typeface="Arial"/>
                <a:ea typeface="Arial"/>
                <a:cs typeface="Arial"/>
              </a:rPr>
              <a:t>Wait behind the rider. Pass only when clear, with generous room, and follow local law.</a:t>
            </a:r>
          </a:p>
        </p:txBody>
      </p:sp>
      <p:sp>
        <p:nvSpPr>
          <p:cNvPr id="6" name="Pass with Room footer ground">
            <a:extLst xmlns:a="http://schemas.openxmlformats.org/drawingml/2006/main">
              <a:ext uri="{FF2B5EF4-FFF2-40B4-BE49-F238E27FC236}">
                <a16:creationId xmlns:a16="http://schemas.microsoft.com/office/drawing/2014/main" id="{2F9779CB-EA3C-45F4-AB67-EFA4DF8D9F5A}"/>
              </a:ext>
            </a:extLst>
          </p:cNvPr>
          <p:cNvSpPr>
            <a:spLocks xmlns:a="http://schemas.openxmlformats.org/drawingml/2006/main" noGrp="1"/>
          </p:cNvSpPr>
          <p:nvPr/>
        </p:nvSpPr>
        <p:spPr>
          <a:xfrm xmlns:a="http://schemas.openxmlformats.org/drawingml/2006/main">
            <a:off x="0" y="9258300"/>
            <a:ext cx="7772400" cy="8001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7" name="">
            <a:extLst xmlns:a="http://schemas.openxmlformats.org/drawingml/2006/main">
              <a:ext uri="{FF2B5EF4-FFF2-40B4-BE49-F238E27FC236}">
                <a16:creationId xmlns:a16="http://schemas.microsoft.com/office/drawing/2014/main" id="{4EDA03BA-D0B6-4751-A57B-19029490A2C9}"/>
              </a:ext>
            </a:extLst>
          </p:cNvPr>
          <p:cNvPicPr>
            <a:picLocks xmlns:a="http://schemas.openxmlformats.org/drawingml/2006/main" noChangeAspect="1"/>
          </p:cNvPicPr>
          <p:nvPr/>
        </p:nvPicPr>
        <p:blipFill>
          <a:blip xmlns:r="http://schemas.openxmlformats.org/officeDocument/2006/relationships" xmlns:a="http://schemas.openxmlformats.org/drawingml/2006/main" r:embed="R293ce6814dfd4d1d"/>
          <a:stretch xmlns:a="http://schemas.openxmlformats.org/drawingml/2006/main"/>
        </p:blipFill>
        <p:spPr>
          <a:xfrm xmlns:a="http://schemas.openxmlformats.org/drawingml/2006/main">
            <a:off x="497434" y="9410319"/>
            <a:ext cx="496062" cy="496062"/>
          </a:xfrm>
          <a:prstGeom xmlns:a="http://schemas.openxmlformats.org/drawingml/2006/main" prst="rect">
            <a:avLst/>
          </a:prstGeom>
        </p:spPr>
      </p:pic>
      <p:sp>
        <p:nvSpPr>
          <p:cNvPr id="8" name="QR code white quiet zone">
            <a:extLst xmlns:a="http://schemas.openxmlformats.org/drawingml/2006/main">
              <a:ext uri="{FF2B5EF4-FFF2-40B4-BE49-F238E27FC236}">
                <a16:creationId xmlns:a16="http://schemas.microsoft.com/office/drawing/2014/main" id="{C84C6800-BC42-4425-99EA-B98EA2C488F4}"/>
              </a:ext>
            </a:extLst>
          </p:cNvPr>
          <p:cNvSpPr>
            <a:spLocks xmlns:a="http://schemas.openxmlformats.org/drawingml/2006/main" noGrp="1"/>
          </p:cNvSpPr>
          <p:nvPr/>
        </p:nvSpPr>
        <p:spPr>
          <a:xfrm xmlns:a="http://schemas.openxmlformats.org/drawingml/2006/main">
            <a:off x="6740804" y="9343644"/>
            <a:ext cx="572262" cy="572262"/>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350DCA3F-6691-4D2D-9910-E8B3D55846D2}"/>
              </a:ext>
            </a:extLst>
          </p:cNvPr>
          <p:cNvPicPr>
            <a:picLocks xmlns:a="http://schemas.openxmlformats.org/drawingml/2006/main" noChangeAspect="1"/>
          </p:cNvPicPr>
          <p:nvPr/>
        </p:nvPicPr>
        <p:blipFill>
          <a:blip xmlns:r="http://schemas.openxmlformats.org/officeDocument/2006/relationships" xmlns:a="http://schemas.openxmlformats.org/drawingml/2006/main" r:embed="Rfa0c6d92173f4133"/>
          <a:stretch xmlns:a="http://schemas.openxmlformats.org/drawingml/2006/main"/>
        </p:blipFill>
        <p:spPr>
          <a:xfrm xmlns:a="http://schemas.openxmlformats.org/drawingml/2006/main">
            <a:off x="6778904" y="9381744"/>
            <a:ext cx="496062" cy="496062"/>
          </a:xfrm>
          <a:prstGeom xmlns:a="http://schemas.openxmlformats.org/drawingml/2006/main" prst="rect">
            <a:avLst/>
          </a:prstGeom>
        </p:spPr>
      </p:pic>
      <p:sp>
        <p:nvSpPr>
          <p:cNvPr id="10" name="Pass with Room footer brand">
            <a:extLst xmlns:a="http://schemas.openxmlformats.org/drawingml/2006/main">
              <a:ext uri="{FF2B5EF4-FFF2-40B4-BE49-F238E27FC236}">
                <a16:creationId xmlns:a16="http://schemas.microsoft.com/office/drawing/2014/main" id="{CF965635-AA1F-4BCE-A8ED-2075EC35846A}"/>
              </a:ext>
            </a:extLst>
          </p:cNvPr>
          <p:cNvSpPr>
            <a:spLocks xmlns:a="http://schemas.openxmlformats.org/drawingml/2006/main" noGrp="1"/>
          </p:cNvSpPr>
          <p:nvPr/>
        </p:nvSpPr>
        <p:spPr>
          <a:xfrm xmlns:a="http://schemas.openxmlformats.org/drawingml/2006/main">
            <a:off x="1164946" y="9370314"/>
            <a:ext cx="5366309" cy="1760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1">
                <a:solidFill>
                  <a:srgbClr val="FFFF0A"/>
                </a:solidFill>
                <a:latin typeface="Space Grotesk"/>
                <a:ea typeface="Space Grotesk"/>
                <a:cs typeface="Space Grotesk"/>
              </a:defRPr>
            </a:defPPr>
            <a:lvl1pPr algn="l">
              <a:defRPr sz="920" b="1">
                <a:solidFill>
                  <a:srgbClr val="FFFF0A"/>
                </a:solidFill>
                <a:latin typeface="Space Grotesk"/>
                <a:ea typeface="Space Grotesk"/>
                <a:cs typeface="Space Grotesk"/>
              </a:defRPr>
            </a:lvl1pPr>
            <a:lvl2pPr algn="l">
              <a:defRPr sz="920" b="1">
                <a:solidFill>
                  <a:srgbClr val="FFFF0A"/>
                </a:solidFill>
                <a:latin typeface="Space Grotesk"/>
                <a:ea typeface="Space Grotesk"/>
                <a:cs typeface="Space Grotesk"/>
              </a:defRPr>
            </a:lvl2pPr>
            <a:lvl3pPr algn="l">
              <a:defRPr sz="920" b="1">
                <a:solidFill>
                  <a:srgbClr val="FFFF0A"/>
                </a:solidFill>
                <a:latin typeface="Space Grotesk"/>
                <a:ea typeface="Space Grotesk"/>
                <a:cs typeface="Space Grotesk"/>
              </a:defRPr>
            </a:lvl3pPr>
            <a:lvl4pPr algn="l">
              <a:defRPr sz="920" b="1">
                <a:solidFill>
                  <a:srgbClr val="FFFF0A"/>
                </a:solidFill>
                <a:latin typeface="Space Grotesk"/>
                <a:ea typeface="Space Grotesk"/>
                <a:cs typeface="Space Grotesk"/>
              </a:defRPr>
            </a:lvl4pPr>
            <a:lvl5pPr algn="l">
              <a:defRPr sz="920" b="1">
                <a:solidFill>
                  <a:srgbClr val="FFFF0A"/>
                </a:solidFill>
                <a:latin typeface="Space Grotesk"/>
                <a:ea typeface="Space Grotesk"/>
                <a:cs typeface="Space Grotesk"/>
              </a:defRPr>
            </a:lvl5pPr>
            <a:lvl6pPr algn="l">
              <a:defRPr sz="920" b="1">
                <a:solidFill>
                  <a:srgbClr val="FFFF0A"/>
                </a:solidFill>
                <a:latin typeface="Space Grotesk"/>
                <a:ea typeface="Space Grotesk"/>
                <a:cs typeface="Space Grotesk"/>
              </a:defRPr>
            </a:lvl6pPr>
            <a:lvl7pPr algn="l">
              <a:defRPr sz="920" b="1">
                <a:solidFill>
                  <a:srgbClr val="FFFF0A"/>
                </a:solidFill>
                <a:latin typeface="Space Grotesk"/>
                <a:ea typeface="Space Grotesk"/>
                <a:cs typeface="Space Grotesk"/>
              </a:defRPr>
            </a:lvl7pPr>
            <a:lvl8pPr algn="l">
              <a:defRPr sz="920" b="1">
                <a:solidFill>
                  <a:srgbClr val="FFFF0A"/>
                </a:solidFill>
                <a:latin typeface="Space Grotesk"/>
                <a:ea typeface="Space Grotesk"/>
                <a:cs typeface="Space Grotesk"/>
              </a:defRPr>
            </a:lvl8pPr>
            <a:lvl9pPr algn="l">
              <a:defRPr sz="920" b="1">
                <a:solidFill>
                  <a:srgbClr val="FFFF0A"/>
                </a:solidFill>
                <a:latin typeface="Space Grotesk"/>
                <a:ea typeface="Space Grotesk"/>
                <a:cs typeface="Space Grotesk"/>
              </a:defRPr>
            </a:lvl9pPr>
          </a:lstStyle>
          <a:p xmlns:a="http://schemas.openxmlformats.org/drawingml/2006/main">
            <a:pPr algn="l">
              <a:lnSpc>
                <a:spcPct val="100000"/>
              </a:lnSpc>
              <a:buNone/>
              <a:defRPr sz="920" b="1">
                <a:solidFill>
                  <a:srgbClr val="FFFF0A"/>
                </a:solidFill>
                <a:latin typeface="Space Grotesk"/>
                <a:ea typeface="Space Grotesk"/>
                <a:cs typeface="Space Grotesk"/>
              </a:defRPr>
            </a:pPr>
            <a:r>
              <a:rPr sz="920" b="1">
                <a:solidFill>
                  <a:srgbClr val="FFFF0A"/>
                </a:solidFill>
                <a:latin typeface="Space Grotesk"/>
                <a:ea typeface="Space Grotesk"/>
                <a:cs typeface="Space Grotesk"/>
              </a:rPr>
              <a:t>3 FEET PLEASE</a:t>
            </a:r>
          </a:p>
        </p:txBody>
      </p:sp>
      <p:sp>
        <p:nvSpPr>
          <p:cNvPr id="11" name="Pass with Room footer campaign line">
            <a:extLst xmlns:a="http://schemas.openxmlformats.org/drawingml/2006/main">
              <a:ext uri="{FF2B5EF4-FFF2-40B4-BE49-F238E27FC236}">
                <a16:creationId xmlns:a16="http://schemas.microsoft.com/office/drawing/2014/main" id="{E8A55048-1D77-4371-A8E4-C6503D46C6E6}"/>
              </a:ext>
            </a:extLst>
          </p:cNvPr>
          <p:cNvSpPr>
            <a:spLocks xmlns:a="http://schemas.openxmlformats.org/drawingml/2006/main" noGrp="1"/>
          </p:cNvSpPr>
          <p:nvPr/>
        </p:nvSpPr>
        <p:spPr>
          <a:xfrm xmlns:a="http://schemas.openxmlformats.org/drawingml/2006/main">
            <a:off x="1164946" y="9570339"/>
            <a:ext cx="5366309" cy="1840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Arial"/>
                <a:ea typeface="Arial"/>
                <a:cs typeface="Arial"/>
              </a:defRPr>
            </a:defPPr>
            <a:lvl1pPr algn="l">
              <a:defRPr sz="900" b="1">
                <a:solidFill>
                  <a:srgbClr val="FFFFFF"/>
                </a:solidFill>
                <a:latin typeface="Arial"/>
                <a:ea typeface="Arial"/>
                <a:cs typeface="Arial"/>
              </a:defRPr>
            </a:lvl1pPr>
            <a:lvl2pPr algn="l">
              <a:defRPr sz="900" b="1">
                <a:solidFill>
                  <a:srgbClr val="FFFFFF"/>
                </a:solidFill>
                <a:latin typeface="Arial"/>
                <a:ea typeface="Arial"/>
                <a:cs typeface="Arial"/>
              </a:defRPr>
            </a:lvl2pPr>
            <a:lvl3pPr algn="l">
              <a:defRPr sz="900" b="1">
                <a:solidFill>
                  <a:srgbClr val="FFFFFF"/>
                </a:solidFill>
                <a:latin typeface="Arial"/>
                <a:ea typeface="Arial"/>
                <a:cs typeface="Arial"/>
              </a:defRPr>
            </a:lvl3pPr>
            <a:lvl4pPr algn="l">
              <a:defRPr sz="900" b="1">
                <a:solidFill>
                  <a:srgbClr val="FFFFFF"/>
                </a:solidFill>
                <a:latin typeface="Arial"/>
                <a:ea typeface="Arial"/>
                <a:cs typeface="Arial"/>
              </a:defRPr>
            </a:lvl4pPr>
            <a:lvl5pPr algn="l">
              <a:defRPr sz="900" b="1">
                <a:solidFill>
                  <a:srgbClr val="FFFFFF"/>
                </a:solidFill>
                <a:latin typeface="Arial"/>
                <a:ea typeface="Arial"/>
                <a:cs typeface="Arial"/>
              </a:defRPr>
            </a:lvl5pPr>
            <a:lvl6pPr algn="l">
              <a:defRPr sz="900" b="1">
                <a:solidFill>
                  <a:srgbClr val="FFFFFF"/>
                </a:solidFill>
                <a:latin typeface="Arial"/>
                <a:ea typeface="Arial"/>
                <a:cs typeface="Arial"/>
              </a:defRPr>
            </a:lvl6pPr>
            <a:lvl7pPr algn="l">
              <a:defRPr sz="900" b="1">
                <a:solidFill>
                  <a:srgbClr val="FFFFFF"/>
                </a:solidFill>
                <a:latin typeface="Arial"/>
                <a:ea typeface="Arial"/>
                <a:cs typeface="Arial"/>
              </a:defRPr>
            </a:lvl7pPr>
            <a:lvl8pPr algn="l">
              <a:defRPr sz="900" b="1">
                <a:solidFill>
                  <a:srgbClr val="FFFFFF"/>
                </a:solidFill>
                <a:latin typeface="Arial"/>
                <a:ea typeface="Arial"/>
                <a:cs typeface="Arial"/>
              </a:defRPr>
            </a:lvl8pPr>
            <a:lvl9pPr algn="l">
              <a:defRPr sz="900" b="1">
                <a:solidFill>
                  <a:srgbClr val="FFFFFF"/>
                </a:solidFill>
                <a:latin typeface="Arial"/>
                <a:ea typeface="Arial"/>
                <a:cs typeface="Arial"/>
              </a:defRPr>
            </a:lvl9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People on bikes deserve space.</a:t>
            </a:r>
          </a:p>
        </p:txBody>
      </p:sp>
      <p:sp>
        <p:nvSpPr>
          <p:cNvPr id="12" name="Pass with Room footer website">
            <a:extLst xmlns:a="http://schemas.openxmlformats.org/drawingml/2006/main">
              <a:ext uri="{FF2B5EF4-FFF2-40B4-BE49-F238E27FC236}">
                <a16:creationId xmlns:a16="http://schemas.microsoft.com/office/drawing/2014/main" id="{74FB9DB7-3010-4C5D-8E1D-73427EB69E82}"/>
              </a:ext>
            </a:extLst>
          </p:cNvPr>
          <p:cNvSpPr>
            <a:spLocks xmlns:a="http://schemas.openxmlformats.org/drawingml/2006/main" noGrp="1"/>
          </p:cNvSpPr>
          <p:nvPr/>
        </p:nvSpPr>
        <p:spPr>
          <a:xfrm xmlns:a="http://schemas.openxmlformats.org/drawingml/2006/main">
            <a:off x="1164946" y="9778365"/>
            <a:ext cx="5366309" cy="1840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Arial"/>
                <a:ea typeface="Arial"/>
                <a:cs typeface="Arial"/>
              </a:defRPr>
            </a:defPPr>
            <a:lvl1pPr algn="l">
              <a:defRPr sz="900" b="1">
                <a:solidFill>
                  <a:srgbClr val="FFFFFF"/>
                </a:solidFill>
                <a:latin typeface="Arial"/>
                <a:ea typeface="Arial"/>
                <a:cs typeface="Arial"/>
              </a:defRPr>
            </a:lvl1pPr>
            <a:lvl2pPr algn="l">
              <a:defRPr sz="900" b="1">
                <a:solidFill>
                  <a:srgbClr val="FFFFFF"/>
                </a:solidFill>
                <a:latin typeface="Arial"/>
                <a:ea typeface="Arial"/>
                <a:cs typeface="Arial"/>
              </a:defRPr>
            </a:lvl2pPr>
            <a:lvl3pPr algn="l">
              <a:defRPr sz="900" b="1">
                <a:solidFill>
                  <a:srgbClr val="FFFFFF"/>
                </a:solidFill>
                <a:latin typeface="Arial"/>
                <a:ea typeface="Arial"/>
                <a:cs typeface="Arial"/>
              </a:defRPr>
            </a:lvl3pPr>
            <a:lvl4pPr algn="l">
              <a:defRPr sz="900" b="1">
                <a:solidFill>
                  <a:srgbClr val="FFFFFF"/>
                </a:solidFill>
                <a:latin typeface="Arial"/>
                <a:ea typeface="Arial"/>
                <a:cs typeface="Arial"/>
              </a:defRPr>
            </a:lvl4pPr>
            <a:lvl5pPr algn="l">
              <a:defRPr sz="900" b="1">
                <a:solidFill>
                  <a:srgbClr val="FFFFFF"/>
                </a:solidFill>
                <a:latin typeface="Arial"/>
                <a:ea typeface="Arial"/>
                <a:cs typeface="Arial"/>
              </a:defRPr>
            </a:lvl5pPr>
            <a:lvl6pPr algn="l">
              <a:defRPr sz="900" b="1">
                <a:solidFill>
                  <a:srgbClr val="FFFFFF"/>
                </a:solidFill>
                <a:latin typeface="Arial"/>
                <a:ea typeface="Arial"/>
                <a:cs typeface="Arial"/>
              </a:defRPr>
            </a:lvl6pPr>
            <a:lvl7pPr algn="l">
              <a:defRPr sz="900" b="1">
                <a:solidFill>
                  <a:srgbClr val="FFFFFF"/>
                </a:solidFill>
                <a:latin typeface="Arial"/>
                <a:ea typeface="Arial"/>
                <a:cs typeface="Arial"/>
              </a:defRPr>
            </a:lvl7pPr>
            <a:lvl8pPr algn="l">
              <a:defRPr sz="900" b="1">
                <a:solidFill>
                  <a:srgbClr val="FFFFFF"/>
                </a:solidFill>
                <a:latin typeface="Arial"/>
                <a:ea typeface="Arial"/>
                <a:cs typeface="Arial"/>
              </a:defRPr>
            </a:lvl8pPr>
            <a:lvl9pPr algn="l">
              <a:defRPr sz="900" b="1">
                <a:solidFill>
                  <a:srgbClr val="FFFFFF"/>
                </a:solidFill>
                <a:latin typeface="Arial"/>
                <a:ea typeface="Arial"/>
                <a:cs typeface="Arial"/>
              </a:defRPr>
            </a:lvl9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Find groups and rides at 3fp.org.</a:t>
            </a:r>
          </a:p>
        </p:txBody>
      </p:sp>
    </p:spTree>
    <p:extLst>
      <p:ext uri="{BB962C8B-B14F-4D97-AF65-F5344CB8AC3E}">
        <p14:creationId xmlns:p14="http://schemas.microsoft.com/office/powerpoint/2010/main" val="350378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2026-10-29T13:45:07.7840000Z</dcterms:created>
  <dcterms:modified xsi:type="dcterms:W3CDTF">2026-10-29T13:45:07.7840000Z</dcterms:modified>
</coreProperties>
</file>